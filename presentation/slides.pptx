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8" r:id="rId10"/>
    <p:sldId id="269" r:id="rId11"/>
    <p:sldId id="264" r:id="rId12"/>
    <p:sldId id="265" r:id="rId13"/>
    <p:sldId id="266" r:id="rId14"/>
    <p:sldId id="267"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991" autoAdjust="0"/>
    <p:restoredTop sz="94660"/>
  </p:normalViewPr>
  <p:slideViewPr>
    <p:cSldViewPr snapToGrid="0">
      <p:cViewPr>
        <p:scale>
          <a:sx n="120" d="100"/>
          <a:sy n="120" d="100"/>
        </p:scale>
        <p:origin x="-168" y="7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Durable Functions (upper estimate)</c:v>
          </c:tx>
          <c:spPr>
            <a:solidFill>
              <a:srgbClr val="2F80ED"/>
            </a:solidFill>
          </c:spPr>
          <c:invertIfNegative val="1"/>
          <c:dLbls>
            <c:spPr>
              <a:noFill/>
              <a:ln>
                <a:noFill/>
              </a:ln>
              <a:effectLst/>
            </c:spPr>
            <c:txPr>
              <a:bodyPr anchorCtr="1"/>
              <a:lstStyle/>
              <a:p>
                <a:pPr>
                  <a:defRPr sz="1050">
                    <a:solidFill>
                      <a:srgbClr val="0B1220"/>
                    </a:solidFil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100/day</c:v>
              </c:pt>
              <c:pt idx="1">
                <c:v>10,000/day</c:v>
              </c:pt>
            </c:strLit>
          </c:cat>
          <c:val>
            <c:numLit>
              <c:formatCode>General</c:formatCode>
              <c:ptCount val="2"/>
              <c:pt idx="0">
                <c:v>2</c:v>
              </c:pt>
              <c:pt idx="1">
                <c:v>8</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488-4D42-B05E-B4901A837AA1}"/>
            </c:ext>
          </c:extLst>
        </c:ser>
        <c:ser>
          <c:idx val="1"/>
          <c:order val="1"/>
          <c:tx>
            <c:v>Logic Apps + Service Bus</c:v>
          </c:tx>
          <c:spPr>
            <a:solidFill>
              <a:srgbClr val="2E9D62"/>
            </a:solidFill>
          </c:spPr>
          <c:invertIfNegative val="1"/>
          <c:dLbls>
            <c:spPr>
              <a:noFill/>
              <a:ln>
                <a:noFill/>
              </a:ln>
              <a:effectLst/>
            </c:spPr>
            <c:txPr>
              <a:bodyPr anchorCtr="1"/>
              <a:lstStyle/>
              <a:p>
                <a:pPr>
                  <a:defRPr sz="1050">
                    <a:solidFill>
                      <a:srgbClr val="0B1220"/>
                    </a:solidFil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100/day</c:v>
              </c:pt>
              <c:pt idx="1">
                <c:v>10,000/day</c:v>
              </c:pt>
            </c:strLit>
          </c:cat>
          <c:val>
            <c:numLit>
              <c:formatCode>General</c:formatCode>
              <c:ptCount val="2"/>
              <c:pt idx="0">
                <c:v>12</c:v>
              </c:pt>
              <c:pt idx="1">
                <c:v>220</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5488-4D42-B05E-B4901A837AA1}"/>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050">
                <a:solidFill>
                  <a:srgbClr val="0B1220"/>
                </a:solidFill>
              </a:defRPr>
            </a:pPr>
            <a:endParaRPr lang="zh-CN"/>
          </a:p>
        </c:txPr>
        <c:crossAx val="48672768"/>
        <c:crosses val="autoZero"/>
        <c:auto val="1"/>
        <c:lblAlgn val="ctr"/>
        <c:lblOffset val="100"/>
        <c:noMultiLvlLbl val="1"/>
      </c:catAx>
      <c:valAx>
        <c:axId val="48672768"/>
        <c:scaling>
          <c:orientation val="minMax"/>
          <c:max val="240"/>
          <c:min val="0"/>
        </c:scaling>
        <c:delete val="0"/>
        <c:axPos val="l"/>
        <c:majorGridlines>
          <c:spPr>
            <a:ln w="9525">
              <a:solidFill>
                <a:srgbClr val="EEF2F6"/>
              </a:solidFill>
              <a:prstDash val="solid"/>
            </a:ln>
          </c:spPr>
        </c:majorGridlines>
        <c:title>
          <c:tx>
            <c:rich>
              <a:bodyPr/>
              <a:lstStyle/>
              <a:p>
                <a:r>
                  <a:rPr lang="en-US" sz="1050">
                    <a:solidFill>
                      <a:srgbClr val="4B5563"/>
                    </a:solidFill>
                  </a:rPr>
                  <a:t>Estimated US$ / month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zh-CN"/>
          </a:p>
        </c:txPr>
        <c:crossAx val="48650112"/>
        <c:crosses val="autoZero"/>
        <c:crossBetween val="between"/>
        <c:majorUnit val="40"/>
      </c:valAx>
      <c:spPr>
        <a:noFill/>
      </c:spPr>
    </c:plotArea>
    <c:legend>
      <c:legendPos val="b"/>
      <c:overlay val="0"/>
      <c:txPr>
        <a:bodyPr anchorCtr="1"/>
        <a:lstStyle/>
        <a:p>
          <a:pPr>
            <a:defRPr sz="975">
              <a:solidFill>
                <a:srgbClr val="4B5563"/>
              </a:solidFill>
            </a:defRPr>
          </a:pPr>
          <a:endParaRPr lang="zh-CN"/>
        </a:p>
      </c:txPr>
    </c:legend>
    <c:plotVisOnly val="1"/>
    <c:dispBlanksAs val="zero"/>
    <c:showDLblsOverMax val="1"/>
  </c:chart>
  <c:spPr>
    <a:solidFill>
      <a:srgbClr val="FFFFFF"/>
    </a:solidFill>
    <a:ln w="0">
      <a:solidFill>
        <a:srgbClr val="FFFFFF"/>
      </a:solid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Hello everyone. My name is [your name], and this is my CST8917 Assignment 2. In this project, I built the same expense approval workflow in two ways. Version A uses Azure Durable Functions, and Version B uses Azure Logic Apps with Service Bus. My main goal was to compare a code-first approach with a visual and declarative approach.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versions use exactly the same business rules. The input includes the employee name and email, amount, category, description, and manager email. The workflow first checks all required fields and makes sure the category is valid. If the amount is below one hundred dollars, it is approved automatically. If the amount is one hundred dollars or more, the workflow waits for a manager. If the manager does not answer before the timeout, the expense is auto-approved but marked as escalated. At the end, the employee receives the final result by email.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Durable Functions architecture. An HTTP client starts the orchestration and returns an instance ID and status URL. The orchestrator first calls the validation activity. For a small expense, it goes directly to processing and notification. For a larger expense, it waits for a ManagerDecision external event and a durable timer at the same time. A separate HTTP endpoint simulates the manager decision. The last activities create the final result and send the employee notification. The important point is that the orchestrator only coordinates tasks. Input and output operations, such as email, are placed in activity functions.</a:t>
            </a:r>
          </a:p>
          <a:p>
            <a:endParaRPr/>
          </a:p>
          <a:p>
            <a:r>
              <a:t>[Sources]</a:t>
            </a:r>
          </a:p>
          <a:p>
            <a:r>
              <a:t>- https://learn.microsoft.com/azure/azure-functions/durable/durable-functions-overview</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expenses of one hundred dollars or more, I used the Human Interaction pattern. The orchestrator creates two durable tasks. One waits for a manager event, and one waits for the timeout. The task-any operation selects whichever task finishes first. If the manager answers, I cancel the timer and use the approve or reject choice. If the timer finishes first, I mark the request as escalated. This is natural in Durable Functions because the workflow can wait without keeping a server thread running.</a:t>
            </a:r>
          </a:p>
          <a:p>
            <a:endParaRPr/>
          </a:p>
          <a:p>
            <a:r>
              <a:t>[Sources]</a:t>
            </a:r>
          </a:p>
          <a:p>
            <a:r>
              <a:t>- https://learn.microsoft.com/azure/azure-functions/durable/durable-functions-human-interaction</a:t>
            </a:r>
          </a:p>
          <a:p>
            <a:r>
              <a:t>- https://learn.microsoft.com/azure/azure-functions/durable/durable-functions-timers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I will demonstrate Version A. First, the Functions host is running, and these are my two HTTP endpoints. I will send a valid request for seventy-five dollars from the HTTP test file. The starter returns an instance ID and a status URL. When I open the status URL, the orchestration is completed and the final status is approved because the amount is below one hundred dollars. Next, I will show a request for two hundred and fifty dollars. This instance waits for manager input. I copy the instance ID to the manager decision request and send an approve decision. After I refresh the status, the final result is approved by the manager. For the timeout case, I prepared a completed run so we do not need to wait during the video. No manager event was sent, and the output is escalated. I also tested missing fields and an invalid category. Both return a validation error before the approval logic starts. Finally, this is the employee notification for the completed request.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Version B begins with an expense message in the Service Bus queue. The Logic App receives the message and calls the validation Azure Function. The Logic App then applies the amount condition and, when required, sends a manager approval email. The final outcome is published to a Service Bus topic. Three filtered subscriptions separate approved, rejected, and escalated results. The Logic App also sends an email to the employee. I used Service Bus Standard because the Basic tier does not support topics and subscriptions.</a:t>
            </a:r>
          </a:p>
          <a:p>
            <a:endParaRPr/>
          </a:p>
          <a:p>
            <a:r>
              <a:t>[Sources]</a:t>
            </a:r>
          </a:p>
          <a:p>
            <a:r>
              <a:t>- https://learn.microsoft.com/azure/service-bus-messaging/service-bus-queues-topics-subscriptions</a:t>
            </a:r>
          </a:p>
          <a:p>
            <a:r>
              <a:t>- https://learn.microsoft.com/azure/service-bus-messaging/service-bus-quickstart-topics-subscriptions-portal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Logic Apps does not provide the Durable Functions Human Interaction pattern in the same code form. My solution uses the Office 365 Send approval email action. This connector waits for a manager response. For the classroom demo, I set a two-minute timeout. An escalation scope is configured to run after a timeout or failure. If the manager selects Approve or Reject, the normal condition sets the status. If there is no response, the escalation scope sets the status to escalated. The solution works well with Microsoft 365, but it has stronger connector dependency than the Durable Functions version.</a:t>
            </a:r>
          </a:p>
          <a:p>
            <a:endParaRPr/>
          </a:p>
          <a:p>
            <a:r>
              <a:t>[Sources]</a:t>
            </a:r>
          </a:p>
          <a:p>
            <a:r>
              <a:t>- https://learn.microsoft.com/azure/connectors/connectors-native-webhook</a:t>
            </a:r>
          </a:p>
          <a:p>
            <a:r>
              <a:t>- https://learn.microsoft.com/azure/logic-apps/error-exception-handling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I will demonstrate Version B. I will send a new under-one-hundred-dollar request through the submit-expense HTTP endpoint. The Function places the message in the incoming queue. A new Logic App run starts. In the run details, the validation Function returns valid equals true, and the amount condition follows the auto-approval branch. The workflow publishes an approved message and sends the employee email. This previous run shows a manager approval. The approval action received the selected option, and the final status is approved. This other run shows the timeout. The approval action timed out, and the escalated scope ran successfully. Here are the three subscriptions. The message counts show that each outcome went only to its matching filtered subscription. This is the final email received by the employee. I have hidden personal information in the recording.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compared the two versions in six areas. Logic Apps was faster for connecting Azure and Microsoft 365 services, but Durable Functions gave clearer control when the logic became complex. Durable Functions was easier to test locally and is more suitable for automated Python tests. Logic Apps has convenient retry and run-after settings, while Durable Functions gives more detailed control in code. The Human Interaction pattern was more natural in Durable Functions. For observability, Logic Apps run history was easier to explain visually, but Durable Functions can provide richer custom telemetry through Application Insights. The final choice depends on both technical complexity and the team's skills.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estimates use thirty days per month and assume twenty percent of expenses require manager approval. At one hundred expenses per day, the Durable Functions usage is likely inside the monthly free grant, so the main extra cost is storage and email. The Logic Apps version is around twelve US dollars per month in my estimate, mainly because Service Bus Standard has a base charge. At ten thousand expenses per day, Durable Functions still has a relatively low platform cost under my execution assumptions. Logic Apps becomes more expensive because actions and standard connector calls are charged by use. These are estimates only. Actual prices depend on region, currency, logging, email licensing, and the Azure agreement.</a:t>
            </a:r>
          </a:p>
          <a:p>
            <a:endParaRPr/>
          </a:p>
          <a:p>
            <a:r>
              <a:t>[Sources]</a:t>
            </a:r>
          </a:p>
          <a:p>
            <a:r>
              <a:t>- https://azure.microsoft.com/pricing/details/functions/</a:t>
            </a:r>
          </a:p>
          <a:p>
            <a:r>
              <a:t>- https://azure.microsoft.com/pricing/details/logic-apps/</a:t>
            </a:r>
          </a:p>
          <a:p>
            <a:r>
              <a:t>- https://azure.microsoft.com/pricing/details/service-bus/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production, I would choose Durable Functions for the main workflow. The external event and durable timer match this long-running approval process clearly. The logic can be reviewed in Git, tested with code, and extended with custom retry and security rules. I would still consider Service Bus as an entry point when the system needs load leveling. I would choose Logic Apps when the workflow is mainly integration, the company already uses Microsoft 365, and the process changes often. In that situation, the visual designer and connector library can save development 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biggest lesson was that serverless orchestration is not only about writing less code. The waiting model, error handling, observability, and connector dependency can change the best design. Durable Functions required more understanding of deterministic orchestration and replay. Logic Apps required careful configuration of run-after conditions and message properties. If I continued this project, I would add automated integration tests, managed identity, Key Vault, idempotency checks, and better monitoring alerts. My final conclusion is that Durable Functions is stronger for complex and testable workflow logic, while Logic Apps is stronger for fast integration and visual operations. Thank you for watching.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4D368E1-C41D-413F-AEA3-CAB80D12673F}"/>
              </a:ext>
            </a:extLst>
          </p:cNvPr>
          <p:cNvSpPr>
            <a:spLocks noGrp="1"/>
          </p:cNvSpPr>
          <p:nvPr/>
        </p:nvSpPr>
        <p:spPr>
          <a:xfrm>
            <a:off x="533400" y="400050"/>
            <a:ext cx="4953000" cy="266700"/>
          </a:xfrm>
          <a:prstGeom prst="rect">
            <a:avLst/>
          </a:prstGeom>
          <a:noFill/>
          <a:ln w="0">
            <a:noFill/>
            <a:prstDash val="solid"/>
          </a:ln>
        </p:spPr>
        <p:txBody>
          <a:bodyPr anchor="t">
            <a:normAutofit fontScale="95833"/>
          </a:bodyPr>
          <a:lstStyle/>
          <a:p>
            <a:pPr algn="l">
              <a:defRPr sz="1200" b="1">
                <a:solidFill>
                  <a:srgbClr val="2F80ED"/>
                </a:solidFill>
                <a:latin typeface="Arial"/>
                <a:ea typeface="Arial"/>
                <a:cs typeface="Arial"/>
              </a:defRPr>
            </a:pPr>
            <a:r>
              <a:rPr sz="1200" b="1">
                <a:solidFill>
                  <a:srgbClr val="2F80ED"/>
                </a:solidFill>
                <a:latin typeface="Arial"/>
                <a:ea typeface="Arial"/>
                <a:cs typeface="Arial"/>
              </a:rPr>
              <a:t>CST8917 • SERVERLESS APPLICATIONS</a:t>
            </a:r>
          </a:p>
        </p:txBody>
      </p:sp>
      <p:sp>
        <p:nvSpPr>
          <p:cNvPr id="2" name="cover-title">
            <a:extLst>
              <a:ext uri="{FF2B5EF4-FFF2-40B4-BE49-F238E27FC236}">
                <a16:creationId xmlns:a16="http://schemas.microsoft.com/office/drawing/2014/main" id="{505ADA49-59D6-49E0-B0E3-2AB14E9012C8}"/>
              </a:ext>
            </a:extLst>
          </p:cNvPr>
          <p:cNvSpPr>
            <a:spLocks noGrp="1"/>
          </p:cNvSpPr>
          <p:nvPr/>
        </p:nvSpPr>
        <p:spPr>
          <a:xfrm>
            <a:off x="533400" y="1790700"/>
            <a:ext cx="7810500" cy="1695450"/>
          </a:xfrm>
          <a:prstGeom prst="rect">
            <a:avLst/>
          </a:prstGeom>
          <a:noFill/>
          <a:ln w="0">
            <a:noFill/>
            <a:prstDash val="solid"/>
          </a:ln>
        </p:spPr>
        <p:txBody>
          <a:bodyPr anchor="t">
            <a:normAutofit/>
          </a:bodyPr>
          <a:lstStyle/>
          <a:p>
            <a:pPr algn="l">
              <a:defRPr sz="4800" b="1">
                <a:solidFill>
                  <a:srgbClr val="0B1220"/>
                </a:solidFill>
                <a:latin typeface="Arial"/>
                <a:ea typeface="Arial"/>
                <a:cs typeface="Arial"/>
              </a:defRPr>
            </a:pPr>
            <a:r>
              <a:rPr sz="4800" b="1">
                <a:solidFill>
                  <a:srgbClr val="0B1220"/>
                </a:solidFill>
                <a:latin typeface="Arial"/>
                <a:ea typeface="Arial"/>
                <a:cs typeface="Arial"/>
              </a:rPr>
              <a:t>Expense Approval</a:t>
            </a:r>
          </a:p>
          <a:p>
            <a:pPr algn="l">
              <a:defRPr sz="4800" b="1">
                <a:solidFill>
                  <a:srgbClr val="0B1220"/>
                </a:solidFill>
                <a:latin typeface="Arial"/>
                <a:ea typeface="Arial"/>
                <a:cs typeface="Arial"/>
              </a:defRPr>
            </a:pPr>
            <a:r>
              <a:rPr sz="4800" b="1">
                <a:solidFill>
                  <a:srgbClr val="0B1220"/>
                </a:solidFill>
                <a:latin typeface="Arial"/>
                <a:ea typeface="Arial"/>
                <a:cs typeface="Arial"/>
              </a:rPr>
              <a:t>Workflow</a:t>
            </a:r>
          </a:p>
        </p:txBody>
      </p:sp>
      <p:sp>
        <p:nvSpPr>
          <p:cNvPr id="3" name="Rectangle 2">
            <a:extLst>
              <a:ext uri="{FF2B5EF4-FFF2-40B4-BE49-F238E27FC236}">
                <a16:creationId xmlns:a16="http://schemas.microsoft.com/office/drawing/2014/main" id="{3E618A78-559B-40A5-B9C4-4E199EB32216}"/>
              </a:ext>
            </a:extLst>
          </p:cNvPr>
          <p:cNvSpPr>
            <a:spLocks noGrp="1"/>
          </p:cNvSpPr>
          <p:nvPr/>
        </p:nvSpPr>
        <p:spPr>
          <a:xfrm>
            <a:off x="552450" y="3857625"/>
            <a:ext cx="6667500" cy="857250"/>
          </a:xfrm>
          <a:prstGeom prst="rect">
            <a:avLst/>
          </a:prstGeom>
          <a:noFill/>
          <a:ln w="0">
            <a:noFill/>
            <a:prstDash val="solid"/>
          </a:ln>
        </p:spPr>
        <p:txBody>
          <a:bodyPr anchor="t">
            <a:normAutofit/>
          </a:bodyPr>
          <a:lstStyle/>
          <a:p>
            <a:pPr algn="l">
              <a:defRPr sz="1800" b="0">
                <a:solidFill>
                  <a:srgbClr val="4B5563"/>
                </a:solidFill>
                <a:latin typeface="Arial"/>
                <a:ea typeface="Arial"/>
                <a:cs typeface="Arial"/>
              </a:defRPr>
            </a:pPr>
            <a:r>
              <a:rPr sz="1800" b="0">
                <a:solidFill>
                  <a:srgbClr val="4B5563"/>
                </a:solidFill>
                <a:latin typeface="Arial"/>
                <a:ea typeface="Arial"/>
                <a:cs typeface="Arial"/>
              </a:rPr>
              <a:t>Two implementations. One business process.</a:t>
            </a:r>
          </a:p>
          <a:p>
            <a:pPr algn="l">
              <a:defRPr sz="1800" b="0">
                <a:solidFill>
                  <a:srgbClr val="4B5563"/>
                </a:solidFill>
                <a:latin typeface="Arial"/>
                <a:ea typeface="Arial"/>
                <a:cs typeface="Arial"/>
              </a:defRPr>
            </a:pPr>
            <a:r>
              <a:rPr sz="1800" b="0">
                <a:solidFill>
                  <a:srgbClr val="4B5563"/>
                </a:solidFill>
                <a:latin typeface="Arial"/>
                <a:ea typeface="Arial"/>
                <a:cs typeface="Arial"/>
              </a:rPr>
              <a:t>Durable Functions vs. Logic Apps + Service Bus</a:t>
            </a:r>
          </a:p>
        </p:txBody>
      </p:sp>
      <p:sp>
        <p:nvSpPr>
          <p:cNvPr id="4" name="Rectangle 3">
            <a:extLst>
              <a:ext uri="{FF2B5EF4-FFF2-40B4-BE49-F238E27FC236}">
                <a16:creationId xmlns:a16="http://schemas.microsoft.com/office/drawing/2014/main" id="{6EC9CEFD-4B47-4CFC-B1DA-F410B078DC5D}"/>
              </a:ext>
            </a:extLst>
          </p:cNvPr>
          <p:cNvSpPr>
            <a:spLocks noGrp="1"/>
          </p:cNvSpPr>
          <p:nvPr/>
        </p:nvSpPr>
        <p:spPr>
          <a:xfrm>
            <a:off x="552450" y="5953125"/>
            <a:ext cx="8572500" cy="323850"/>
          </a:xfrm>
          <a:prstGeom prst="rect">
            <a:avLst/>
          </a:prstGeom>
          <a:noFill/>
          <a:ln w="0">
            <a:noFill/>
            <a:prstDash val="solid"/>
          </a:ln>
        </p:spPr>
        <p:txBody>
          <a:bodyPr anchor="t">
            <a:normAutofit/>
          </a:bodyPr>
          <a:lstStyle/>
          <a:p>
            <a:pPr algn="l">
              <a:defRPr sz="1275" b="0">
                <a:solidFill>
                  <a:srgbClr val="4B5563"/>
                </a:solidFill>
                <a:latin typeface="Arial"/>
                <a:ea typeface="Arial"/>
                <a:cs typeface="Arial"/>
              </a:defRPr>
            </a:pPr>
            <a:r>
              <a:rPr lang="en-US" sz="1275" b="0" dirty="0">
                <a:solidFill>
                  <a:srgbClr val="4B5563"/>
                </a:solidFill>
                <a:latin typeface="Arial"/>
                <a:ea typeface="Arial"/>
                <a:cs typeface="Arial"/>
              </a:rPr>
              <a:t>S</a:t>
            </a:r>
            <a:r>
              <a:rPr lang="en-US" altLang="zh-CN" sz="1275" b="0" dirty="0">
                <a:solidFill>
                  <a:srgbClr val="4B5563"/>
                </a:solidFill>
                <a:latin typeface="Arial"/>
                <a:ea typeface="Arial"/>
                <a:cs typeface="Arial"/>
              </a:rPr>
              <a:t>han Jiang</a:t>
            </a:r>
            <a:r>
              <a:rPr sz="1275" b="0" dirty="0">
                <a:solidFill>
                  <a:srgbClr val="4B5563"/>
                </a:solidFill>
                <a:latin typeface="Arial"/>
                <a:ea typeface="Arial"/>
                <a:cs typeface="Arial"/>
              </a:rPr>
              <a:t>•  [</a:t>
            </a:r>
            <a:r>
              <a:rPr lang="en-US" sz="1275" b="0" dirty="0">
                <a:solidFill>
                  <a:srgbClr val="4B5563"/>
                </a:solidFill>
                <a:latin typeface="Arial"/>
                <a:ea typeface="Arial"/>
                <a:cs typeface="Arial"/>
              </a:rPr>
              <a:t>041179466</a:t>
            </a:r>
            <a:r>
              <a:rPr sz="1275" b="0" dirty="0">
                <a:solidFill>
                  <a:srgbClr val="4B5563"/>
                </a:solidFill>
                <a:latin typeface="Arial"/>
                <a:ea typeface="Arial"/>
                <a:cs typeface="Arial"/>
              </a:rPr>
              <a:t>]  •  Summer 2026</a:t>
            </a:r>
          </a:p>
        </p:txBody>
      </p:sp>
      <p:sp>
        <p:nvSpPr>
          <p:cNvPr id="5" name="Rectangle 4">
            <a:extLst>
              <a:ext uri="{FF2B5EF4-FFF2-40B4-BE49-F238E27FC236}">
                <a16:creationId xmlns:a16="http://schemas.microsoft.com/office/drawing/2014/main" id="{8258DA97-EA6C-4478-907B-38A3CC815A93}"/>
              </a:ext>
            </a:extLst>
          </p:cNvPr>
          <p:cNvSpPr>
            <a:spLocks noGrp="1"/>
          </p:cNvSpPr>
          <p:nvPr/>
        </p:nvSpPr>
        <p:spPr>
          <a:xfrm>
            <a:off x="9572625" y="0"/>
            <a:ext cx="2619375" cy="6858000"/>
          </a:xfrm>
          <a:prstGeom prst="rect">
            <a:avLst/>
          </a:prstGeom>
          <a:solidFill>
            <a:srgbClr val="DCEEFF"/>
          </a:solidFill>
          <a:ln w="0">
            <a:solidFill>
              <a:srgbClr val="DCEEFF"/>
            </a:solidFill>
            <a:prstDash val="solid"/>
          </a:ln>
        </p:spPr>
        <p:txBody>
          <a:bodyPr/>
          <a:lstStyle/>
          <a:p>
            <a:endParaRPr lang="zh-CN" altLang="en-US"/>
          </a:p>
        </p:txBody>
      </p:sp>
      <p:sp>
        <p:nvSpPr>
          <p:cNvPr id="6" name="Rectangle 5">
            <a:extLst>
              <a:ext uri="{FF2B5EF4-FFF2-40B4-BE49-F238E27FC236}">
                <a16:creationId xmlns:a16="http://schemas.microsoft.com/office/drawing/2014/main" id="{B64258CC-EBBF-4299-BDD8-5FC5C1CEAB89}"/>
              </a:ext>
            </a:extLst>
          </p:cNvPr>
          <p:cNvSpPr>
            <a:spLocks noGrp="1"/>
          </p:cNvSpPr>
          <p:nvPr/>
        </p:nvSpPr>
        <p:spPr>
          <a:xfrm>
            <a:off x="10115550" y="1885950"/>
            <a:ext cx="1524000" cy="1000125"/>
          </a:xfrm>
          <a:prstGeom prst="rect">
            <a:avLst/>
          </a:prstGeom>
          <a:noFill/>
          <a:ln w="0">
            <a:noFill/>
            <a:prstDash val="solid"/>
          </a:ln>
        </p:spPr>
        <p:txBody>
          <a:bodyPr anchor="t">
            <a:normAutofit/>
          </a:bodyPr>
          <a:lstStyle/>
          <a:p>
            <a:pPr algn="ctr">
              <a:defRPr sz="5700" b="1">
                <a:solidFill>
                  <a:srgbClr val="2F80ED"/>
                </a:solidFill>
                <a:latin typeface="Arial"/>
                <a:ea typeface="Arial"/>
                <a:cs typeface="Arial"/>
              </a:defRPr>
            </a:pPr>
            <a:r>
              <a:rPr sz="5700" b="1">
                <a:solidFill>
                  <a:srgbClr val="2F80ED"/>
                </a:solidFill>
                <a:latin typeface="Arial"/>
                <a:ea typeface="Arial"/>
                <a:cs typeface="Arial"/>
              </a:rPr>
              <a:t>A</a:t>
            </a:r>
          </a:p>
        </p:txBody>
      </p:sp>
      <p:sp>
        <p:nvSpPr>
          <p:cNvPr id="7" name="Rectangle 6">
            <a:extLst>
              <a:ext uri="{FF2B5EF4-FFF2-40B4-BE49-F238E27FC236}">
                <a16:creationId xmlns:a16="http://schemas.microsoft.com/office/drawing/2014/main" id="{C5370297-7E0B-4A8E-9715-056FF3BD00A3}"/>
              </a:ext>
            </a:extLst>
          </p:cNvPr>
          <p:cNvSpPr>
            <a:spLocks noGrp="1"/>
          </p:cNvSpPr>
          <p:nvPr/>
        </p:nvSpPr>
        <p:spPr>
          <a:xfrm>
            <a:off x="10077450" y="2895600"/>
            <a:ext cx="1571625" cy="323850"/>
          </a:xfrm>
          <a:prstGeom prst="rect">
            <a:avLst/>
          </a:prstGeom>
          <a:noFill/>
          <a:ln w="0">
            <a:noFill/>
            <a:prstDash val="solid"/>
          </a:ln>
        </p:spPr>
        <p:txBody>
          <a:bodyPr anchor="t">
            <a:normAutofit/>
          </a:bodyPr>
          <a:lstStyle/>
          <a:p>
            <a:pPr algn="ctr">
              <a:defRPr sz="1350" b="1">
                <a:solidFill>
                  <a:srgbClr val="2F80ED"/>
                </a:solidFill>
                <a:latin typeface="Arial"/>
                <a:ea typeface="Arial"/>
                <a:cs typeface="Arial"/>
              </a:defRPr>
            </a:pPr>
            <a:r>
              <a:rPr sz="1350" b="1">
                <a:solidFill>
                  <a:srgbClr val="2F80ED"/>
                </a:solidFill>
                <a:latin typeface="Arial"/>
                <a:ea typeface="Arial"/>
                <a:cs typeface="Arial"/>
              </a:rPr>
              <a:t>CODE-FIRST</a:t>
            </a:r>
          </a:p>
        </p:txBody>
      </p:sp>
      <p:sp>
        <p:nvSpPr>
          <p:cNvPr id="8" name="Rectangle 7">
            <a:extLst>
              <a:ext uri="{FF2B5EF4-FFF2-40B4-BE49-F238E27FC236}">
                <a16:creationId xmlns:a16="http://schemas.microsoft.com/office/drawing/2014/main" id="{30AF58C4-3242-4CE5-8807-88A64DC10513}"/>
              </a:ext>
            </a:extLst>
          </p:cNvPr>
          <p:cNvSpPr>
            <a:spLocks noGrp="1"/>
          </p:cNvSpPr>
          <p:nvPr/>
        </p:nvSpPr>
        <p:spPr>
          <a:xfrm>
            <a:off x="10115550" y="3886200"/>
            <a:ext cx="1524000" cy="1000125"/>
          </a:xfrm>
          <a:prstGeom prst="rect">
            <a:avLst/>
          </a:prstGeom>
          <a:noFill/>
          <a:ln w="0">
            <a:noFill/>
            <a:prstDash val="solid"/>
          </a:ln>
        </p:spPr>
        <p:txBody>
          <a:bodyPr anchor="t">
            <a:normAutofit/>
          </a:bodyPr>
          <a:lstStyle/>
          <a:p>
            <a:pPr algn="ctr">
              <a:defRPr sz="5700" b="1">
                <a:solidFill>
                  <a:srgbClr val="2E9D62"/>
                </a:solidFill>
                <a:latin typeface="Arial"/>
                <a:ea typeface="Arial"/>
                <a:cs typeface="Arial"/>
              </a:defRPr>
            </a:pPr>
            <a:r>
              <a:rPr sz="5700" b="1">
                <a:solidFill>
                  <a:srgbClr val="2E9D62"/>
                </a:solidFill>
                <a:latin typeface="Arial"/>
                <a:ea typeface="Arial"/>
                <a:cs typeface="Arial"/>
              </a:rPr>
              <a:t>B</a:t>
            </a:r>
          </a:p>
        </p:txBody>
      </p:sp>
      <p:sp>
        <p:nvSpPr>
          <p:cNvPr id="9" name="Rectangle 8">
            <a:extLst>
              <a:ext uri="{FF2B5EF4-FFF2-40B4-BE49-F238E27FC236}">
                <a16:creationId xmlns:a16="http://schemas.microsoft.com/office/drawing/2014/main" id="{A5B2CD3A-22A8-4F96-87D3-42BD516A225D}"/>
              </a:ext>
            </a:extLst>
          </p:cNvPr>
          <p:cNvSpPr>
            <a:spLocks noGrp="1"/>
          </p:cNvSpPr>
          <p:nvPr/>
        </p:nvSpPr>
        <p:spPr>
          <a:xfrm>
            <a:off x="10077450" y="4895850"/>
            <a:ext cx="1571625" cy="323850"/>
          </a:xfrm>
          <a:prstGeom prst="rect">
            <a:avLst/>
          </a:prstGeom>
          <a:noFill/>
          <a:ln w="0">
            <a:noFill/>
            <a:prstDash val="solid"/>
          </a:ln>
        </p:spPr>
        <p:txBody>
          <a:bodyPr anchor="t">
            <a:normAutofit/>
          </a:bodyPr>
          <a:lstStyle/>
          <a:p>
            <a:pPr algn="ctr">
              <a:defRPr sz="1350" b="1">
                <a:solidFill>
                  <a:srgbClr val="2E9D62"/>
                </a:solidFill>
                <a:latin typeface="Arial"/>
                <a:ea typeface="Arial"/>
                <a:cs typeface="Arial"/>
              </a:defRPr>
            </a:pPr>
            <a:r>
              <a:rPr sz="1350" b="1">
                <a:solidFill>
                  <a:srgbClr val="2E9D62"/>
                </a:solidFill>
                <a:latin typeface="Arial"/>
                <a:ea typeface="Arial"/>
                <a:cs typeface="Arial"/>
              </a:rPr>
              <a:t>VISUAL</a:t>
            </a:r>
          </a:p>
        </p:txBody>
      </p:sp>
    </p:spTree>
    <p:extLst>
      <p:ext uri="{BB962C8B-B14F-4D97-AF65-F5344CB8AC3E}">
        <p14:creationId xmlns:p14="http://schemas.microsoft.com/office/powerpoint/2010/main" val="478450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4B8854B8-9E49-480F-97C4-52446151A4AA}"/>
              </a:ext>
            </a:extLst>
          </p:cNvPr>
          <p:cNvSpPr>
            <a:spLocks noGrp="1"/>
          </p:cNvSpPr>
          <p:nvPr/>
        </p:nvSpPr>
        <p:spPr>
          <a:xfrm>
            <a:off x="533400" y="323850"/>
            <a:ext cx="3143250" cy="266700"/>
          </a:xfrm>
          <a:prstGeom prst="rect">
            <a:avLst/>
          </a:prstGeom>
          <a:noFill/>
          <a:ln w="0">
            <a:noFill/>
            <a:prstDash val="solid"/>
          </a:ln>
        </p:spPr>
        <p:txBody>
          <a:bodyPr anchor="t">
            <a:normAutofit/>
          </a:bodyPr>
          <a:lstStyle/>
          <a:p>
            <a:pPr algn="l">
              <a:defRPr sz="1125" b="1">
                <a:solidFill>
                  <a:srgbClr val="2F80ED"/>
                </a:solidFill>
                <a:latin typeface="Arial"/>
                <a:ea typeface="Arial"/>
                <a:cs typeface="Arial"/>
              </a:defRPr>
            </a:pPr>
            <a:r>
              <a:rPr sz="1125" b="1">
                <a:solidFill>
                  <a:srgbClr val="2F80ED"/>
                </a:solidFill>
                <a:latin typeface="Arial"/>
                <a:ea typeface="Arial"/>
                <a:cs typeface="Arial"/>
              </a:rPr>
              <a:t>BUSINESS CONTEXT</a:t>
            </a:r>
          </a:p>
        </p:txBody>
      </p:sp>
      <p:sp>
        <p:nvSpPr>
          <p:cNvPr id="2" name="slide-2-title">
            <a:extLst>
              <a:ext uri="{FF2B5EF4-FFF2-40B4-BE49-F238E27FC236}">
                <a16:creationId xmlns:a16="http://schemas.microsoft.com/office/drawing/2014/main" id="{32474A9F-79C8-4943-BDA9-4B864029D1FD}"/>
              </a:ext>
            </a:extLst>
          </p:cNvPr>
          <p:cNvSpPr>
            <a:spLocks noGrp="1"/>
          </p:cNvSpPr>
          <p:nvPr/>
        </p:nvSpPr>
        <p:spPr>
          <a:xfrm>
            <a:off x="533400" y="628650"/>
            <a:ext cx="10763250" cy="742950"/>
          </a:xfrm>
          <a:prstGeom prst="rect">
            <a:avLst/>
          </a:prstGeom>
          <a:noFill/>
          <a:ln w="0">
            <a:noFill/>
            <a:prstDash val="solid"/>
          </a:ln>
        </p:spPr>
        <p:txBody>
          <a:bodyPr anchor="t">
            <a:normAutofit/>
          </a:bodyPr>
          <a:lstStyle/>
          <a:p>
            <a:pPr algn="l">
              <a:defRPr sz="2925" b="1">
                <a:solidFill>
                  <a:srgbClr val="0B1220"/>
                </a:solidFill>
                <a:latin typeface="Arial"/>
                <a:ea typeface="Arial"/>
                <a:cs typeface="Arial"/>
              </a:defRPr>
            </a:pPr>
            <a:r>
              <a:rPr sz="2925" b="1">
                <a:solidFill>
                  <a:srgbClr val="0B1220"/>
                </a:solidFill>
                <a:latin typeface="Arial"/>
                <a:ea typeface="Arial"/>
                <a:cs typeface="Arial"/>
              </a:rPr>
              <a:t>One workflow, six rules</a:t>
            </a:r>
          </a:p>
        </p:txBody>
      </p:sp>
      <p:sp>
        <p:nvSpPr>
          <p:cNvPr id="3" name="Rectangle 2">
            <a:extLst>
              <a:ext uri="{FF2B5EF4-FFF2-40B4-BE49-F238E27FC236}">
                <a16:creationId xmlns:a16="http://schemas.microsoft.com/office/drawing/2014/main" id="{2F48FEB3-9AA3-4B12-A4EE-18D47747929D}"/>
              </a:ext>
            </a:extLst>
          </p:cNvPr>
          <p:cNvSpPr>
            <a:spLocks noGrp="1"/>
          </p:cNvSpPr>
          <p:nvPr/>
        </p:nvSpPr>
        <p:spPr>
          <a:xfrm>
            <a:off x="533400" y="1409700"/>
            <a:ext cx="11125200" cy="19050"/>
          </a:xfrm>
          <a:prstGeom prst="rect">
            <a:avLst/>
          </a:prstGeom>
          <a:solidFill>
            <a:srgbClr val="B8BCC4"/>
          </a:solidFill>
          <a:ln w="0">
            <a:solidFill>
              <a:srgbClr val="B8BCC4"/>
            </a:solidFill>
            <a:prstDash val="solid"/>
          </a:ln>
        </p:spPr>
        <p:txBody>
          <a:bodyPr/>
          <a:lstStyle/>
          <a:p>
            <a:endParaRPr lang="zh-CN" altLang="en-US"/>
          </a:p>
        </p:txBody>
      </p:sp>
      <p:sp>
        <p:nvSpPr>
          <p:cNvPr id="4" name="Rectangle 3">
            <a:extLst>
              <a:ext uri="{FF2B5EF4-FFF2-40B4-BE49-F238E27FC236}">
                <a16:creationId xmlns:a16="http://schemas.microsoft.com/office/drawing/2014/main" id="{EFCC95BF-E61A-4230-871F-1CA14DAA5CFA}"/>
              </a:ext>
            </a:extLst>
          </p:cNvPr>
          <p:cNvSpPr>
            <a:spLocks noGrp="1"/>
          </p:cNvSpPr>
          <p:nvPr/>
        </p:nvSpPr>
        <p:spPr>
          <a:xfrm>
            <a:off x="11191875" y="6419850"/>
            <a:ext cx="457200" cy="190500"/>
          </a:xfrm>
          <a:prstGeom prst="rect">
            <a:avLst/>
          </a:prstGeom>
          <a:noFill/>
          <a:ln w="0">
            <a:noFill/>
            <a:prstDash val="solid"/>
          </a:ln>
        </p:spPr>
        <p:txBody>
          <a:bodyPr anchor="t">
            <a:normAutofit fontScale="79722" lnSpcReduction="10000"/>
          </a:bodyPr>
          <a:lstStyle/>
          <a:p>
            <a:pPr algn="r">
              <a:defRPr sz="900" b="0">
                <a:solidFill>
                  <a:srgbClr val="4B5563"/>
                </a:solidFill>
                <a:latin typeface="Arial"/>
                <a:ea typeface="Arial"/>
                <a:cs typeface="Arial"/>
              </a:defRPr>
            </a:pPr>
            <a:r>
              <a:rPr sz="900" b="0">
                <a:solidFill>
                  <a:srgbClr val="4B5563"/>
                </a:solidFill>
                <a:latin typeface="Arial"/>
                <a:ea typeface="Arial"/>
                <a:cs typeface="Arial"/>
              </a:rPr>
              <a:t>02</a:t>
            </a:r>
          </a:p>
        </p:txBody>
      </p:sp>
      <p:sp>
        <p:nvSpPr>
          <p:cNvPr id="5" name="Rectangle: Rounded Corners 4">
            <a:extLst>
              <a:ext uri="{FF2B5EF4-FFF2-40B4-BE49-F238E27FC236}">
                <a16:creationId xmlns:a16="http://schemas.microsoft.com/office/drawing/2014/main" id="{24FC22A3-B9A1-4C85-8D9C-221ED3FB4BD7}"/>
              </a:ext>
            </a:extLst>
          </p:cNvPr>
          <p:cNvSpPr>
            <a:spLocks noGrp="1"/>
          </p:cNvSpPr>
          <p:nvPr/>
        </p:nvSpPr>
        <p:spPr>
          <a:xfrm>
            <a:off x="552450" y="2152650"/>
            <a:ext cx="1952625" cy="1028700"/>
          </a:xfrm>
          <a:prstGeom prst="roundRect">
            <a:avLst>
              <a:gd name="adj" fmla="val 7407"/>
            </a:avLst>
          </a:prstGeom>
          <a:solidFill>
            <a:srgbClr val="DCEEFF"/>
          </a:solidFill>
          <a:ln w="11430">
            <a:solidFill>
              <a:srgbClr val="B8BCC4"/>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Validate</a:t>
            </a:r>
          </a:p>
          <a:p>
            <a:pPr algn="ctr">
              <a:defRPr sz="1350" b="1">
                <a:solidFill>
                  <a:srgbClr val="0B1220"/>
                </a:solidFill>
                <a:latin typeface="Arial"/>
                <a:ea typeface="Arial"/>
                <a:cs typeface="Arial"/>
              </a:defRPr>
            </a:pPr>
            <a:r>
              <a:rPr sz="1350" b="1">
                <a:solidFill>
                  <a:srgbClr val="0B1220"/>
                </a:solidFill>
                <a:latin typeface="Arial"/>
                <a:ea typeface="Arial"/>
                <a:cs typeface="Arial"/>
              </a:rPr>
              <a:t>required fields + category</a:t>
            </a:r>
          </a:p>
        </p:txBody>
      </p:sp>
      <p:sp>
        <p:nvSpPr>
          <p:cNvPr id="6" name="Rectangle: Rounded Corners 5">
            <a:extLst>
              <a:ext uri="{FF2B5EF4-FFF2-40B4-BE49-F238E27FC236}">
                <a16:creationId xmlns:a16="http://schemas.microsoft.com/office/drawing/2014/main" id="{8978B105-0A10-42FE-946D-E36C6579AFCA}"/>
              </a:ext>
            </a:extLst>
          </p:cNvPr>
          <p:cNvSpPr>
            <a:spLocks noGrp="1"/>
          </p:cNvSpPr>
          <p:nvPr/>
        </p:nvSpPr>
        <p:spPr>
          <a:xfrm>
            <a:off x="2876550" y="2152650"/>
            <a:ext cx="1524000" cy="1028700"/>
          </a:xfrm>
          <a:prstGeom prst="roundRect">
            <a:avLst>
              <a:gd name="adj" fmla="val 7407"/>
            </a:avLst>
          </a:prstGeom>
          <a:solidFill>
            <a:srgbClr val="EEF2F6"/>
          </a:solidFill>
          <a:ln w="11430">
            <a:solidFill>
              <a:srgbClr val="B8BCC4"/>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Amount</a:t>
            </a:r>
          </a:p>
          <a:p>
            <a:pPr algn="ctr">
              <a:defRPr sz="1350" b="1">
                <a:solidFill>
                  <a:srgbClr val="0B1220"/>
                </a:solidFill>
                <a:latin typeface="Arial"/>
                <a:ea typeface="Arial"/>
                <a:cs typeface="Arial"/>
              </a:defRPr>
            </a:pPr>
            <a:r>
              <a:rPr sz="1350" b="1">
                <a:solidFill>
                  <a:srgbClr val="0B1220"/>
                </a:solidFill>
                <a:latin typeface="Arial"/>
                <a:ea typeface="Arial"/>
                <a:cs typeface="Arial"/>
              </a:rPr>
              <a:t>&lt; $100?</a:t>
            </a:r>
          </a:p>
        </p:txBody>
      </p:sp>
      <p:sp>
        <p:nvSpPr>
          <p:cNvPr id="7" name="Rectangle: Rounded Corners 6">
            <a:extLst>
              <a:ext uri="{FF2B5EF4-FFF2-40B4-BE49-F238E27FC236}">
                <a16:creationId xmlns:a16="http://schemas.microsoft.com/office/drawing/2014/main" id="{7BF14621-8024-4147-A0B9-56C0911EDFEB}"/>
              </a:ext>
            </a:extLst>
          </p:cNvPr>
          <p:cNvSpPr>
            <a:spLocks noGrp="1"/>
          </p:cNvSpPr>
          <p:nvPr/>
        </p:nvSpPr>
        <p:spPr>
          <a:xfrm>
            <a:off x="4762500" y="1762125"/>
            <a:ext cx="1714500" cy="742950"/>
          </a:xfrm>
          <a:prstGeom prst="roundRect">
            <a:avLst>
              <a:gd name="adj" fmla="val 10256"/>
            </a:avLst>
          </a:prstGeom>
          <a:solidFill>
            <a:srgbClr val="DCF4E7"/>
          </a:solidFill>
          <a:ln w="11430">
            <a:solidFill>
              <a:srgbClr val="2E9D62"/>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Auto-approve</a:t>
            </a:r>
          </a:p>
        </p:txBody>
      </p:sp>
      <p:sp>
        <p:nvSpPr>
          <p:cNvPr id="8" name="Rectangle: Rounded Corners 7">
            <a:extLst>
              <a:ext uri="{FF2B5EF4-FFF2-40B4-BE49-F238E27FC236}">
                <a16:creationId xmlns:a16="http://schemas.microsoft.com/office/drawing/2014/main" id="{5245789B-3FC9-4FD8-9A2D-EB043F7EF245}"/>
              </a:ext>
            </a:extLst>
          </p:cNvPr>
          <p:cNvSpPr>
            <a:spLocks noGrp="1"/>
          </p:cNvSpPr>
          <p:nvPr/>
        </p:nvSpPr>
        <p:spPr>
          <a:xfrm>
            <a:off x="4762500" y="2886075"/>
            <a:ext cx="1714500" cy="742950"/>
          </a:xfrm>
          <a:prstGeom prst="roundRect">
            <a:avLst>
              <a:gd name="adj" fmla="val 10256"/>
            </a:avLst>
          </a:prstGeom>
          <a:solidFill>
            <a:srgbClr val="FFF1D6"/>
          </a:solidFill>
          <a:ln w="11430">
            <a:solidFill>
              <a:srgbClr val="C47A00"/>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Manager decision</a:t>
            </a:r>
          </a:p>
        </p:txBody>
      </p:sp>
      <p:sp>
        <p:nvSpPr>
          <p:cNvPr id="9" name="Rectangle: Rounded Corners 8">
            <a:extLst>
              <a:ext uri="{FF2B5EF4-FFF2-40B4-BE49-F238E27FC236}">
                <a16:creationId xmlns:a16="http://schemas.microsoft.com/office/drawing/2014/main" id="{34F31D45-8D5F-47C0-B518-512DC09E0A6F}"/>
              </a:ext>
            </a:extLst>
          </p:cNvPr>
          <p:cNvSpPr>
            <a:spLocks noGrp="1"/>
          </p:cNvSpPr>
          <p:nvPr/>
        </p:nvSpPr>
        <p:spPr>
          <a:xfrm>
            <a:off x="9525000" y="2152650"/>
            <a:ext cx="2095500" cy="1028700"/>
          </a:xfrm>
          <a:prstGeom prst="roundRect">
            <a:avLst>
              <a:gd name="adj" fmla="val 7407"/>
            </a:avLst>
          </a:prstGeom>
          <a:solidFill>
            <a:srgbClr val="DCEEFF"/>
          </a:solidFill>
          <a:ln w="11430">
            <a:solidFill>
              <a:srgbClr val="B8BCC4"/>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Notify employee</a:t>
            </a:r>
          </a:p>
          <a:p>
            <a:pPr algn="ctr">
              <a:defRPr sz="1350" b="1">
                <a:solidFill>
                  <a:srgbClr val="0B1220"/>
                </a:solidFill>
                <a:latin typeface="Arial"/>
                <a:ea typeface="Arial"/>
                <a:cs typeface="Arial"/>
              </a:defRPr>
            </a:pPr>
            <a:r>
              <a:rPr sz="1350" b="1">
                <a:solidFill>
                  <a:srgbClr val="0B1220"/>
                </a:solidFill>
                <a:latin typeface="Arial"/>
                <a:ea typeface="Arial"/>
                <a:cs typeface="Arial"/>
              </a:rPr>
              <a:t>with final outcome</a:t>
            </a:r>
          </a:p>
        </p:txBody>
      </p:sp>
      <p:sp>
        <p:nvSpPr>
          <p:cNvPr id="10" name="Rectangle: Rounded Corners 9">
            <a:extLst>
              <a:ext uri="{FF2B5EF4-FFF2-40B4-BE49-F238E27FC236}">
                <a16:creationId xmlns:a16="http://schemas.microsoft.com/office/drawing/2014/main" id="{C6D4AC7C-BA0A-46A0-8258-70E67854D894}"/>
              </a:ext>
            </a:extLst>
          </p:cNvPr>
          <p:cNvSpPr>
            <a:spLocks noGrp="1"/>
          </p:cNvSpPr>
          <p:nvPr/>
        </p:nvSpPr>
        <p:spPr>
          <a:xfrm>
            <a:off x="7048500" y="1905000"/>
            <a:ext cx="1428750" cy="666750"/>
          </a:xfrm>
          <a:prstGeom prst="roundRect">
            <a:avLst>
              <a:gd name="adj" fmla="val 11429"/>
            </a:avLst>
          </a:prstGeom>
          <a:solidFill>
            <a:srgbClr val="DCF4E7"/>
          </a:solidFill>
          <a:ln w="11430">
            <a:solidFill>
              <a:srgbClr val="2E9D62"/>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Approve</a:t>
            </a:r>
          </a:p>
        </p:txBody>
      </p:sp>
      <p:sp>
        <p:nvSpPr>
          <p:cNvPr id="11" name="Rectangle: Rounded Corners 10">
            <a:extLst>
              <a:ext uri="{FF2B5EF4-FFF2-40B4-BE49-F238E27FC236}">
                <a16:creationId xmlns:a16="http://schemas.microsoft.com/office/drawing/2014/main" id="{CD5B27E0-BD76-44A2-A261-CCD9865DE430}"/>
              </a:ext>
            </a:extLst>
          </p:cNvPr>
          <p:cNvSpPr>
            <a:spLocks noGrp="1"/>
          </p:cNvSpPr>
          <p:nvPr/>
        </p:nvSpPr>
        <p:spPr>
          <a:xfrm>
            <a:off x="7048500" y="2809875"/>
            <a:ext cx="1428750" cy="666750"/>
          </a:xfrm>
          <a:prstGeom prst="roundRect">
            <a:avLst>
              <a:gd name="adj" fmla="val 11429"/>
            </a:avLst>
          </a:prstGeom>
          <a:solidFill>
            <a:srgbClr val="FCE2E2"/>
          </a:solidFill>
          <a:ln w="11430">
            <a:solidFill>
              <a:srgbClr val="B83A3A"/>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Reject</a:t>
            </a:r>
          </a:p>
        </p:txBody>
      </p:sp>
      <p:sp>
        <p:nvSpPr>
          <p:cNvPr id="12" name="Rectangle: Rounded Corners 11">
            <a:extLst>
              <a:ext uri="{FF2B5EF4-FFF2-40B4-BE49-F238E27FC236}">
                <a16:creationId xmlns:a16="http://schemas.microsoft.com/office/drawing/2014/main" id="{CE8BFAC3-513A-4417-9EB1-44C11C04763D}"/>
              </a:ext>
            </a:extLst>
          </p:cNvPr>
          <p:cNvSpPr>
            <a:spLocks noGrp="1"/>
          </p:cNvSpPr>
          <p:nvPr/>
        </p:nvSpPr>
        <p:spPr>
          <a:xfrm>
            <a:off x="7048500" y="3714750"/>
            <a:ext cx="1714500" cy="666750"/>
          </a:xfrm>
          <a:prstGeom prst="roundRect">
            <a:avLst>
              <a:gd name="adj" fmla="val 11429"/>
            </a:avLst>
          </a:prstGeom>
          <a:solidFill>
            <a:srgbClr val="FFF1D6"/>
          </a:solidFill>
          <a:ln w="11430">
            <a:solidFill>
              <a:srgbClr val="C47A00"/>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Timeout → Escalated</a:t>
            </a:r>
          </a:p>
        </p:txBody>
      </p:sp>
      <p:cxnSp>
        <p:nvCxnSpPr>
          <p:cNvPr id="38" name="Straight Arrow Connector 37"/>
          <p:cNvCxnSpPr>
            <a:stCxn id="5" idx="3"/>
            <a:endCxn id="6" idx="1"/>
          </p:cNvCxnSpPr>
          <p:nvPr/>
        </p:nvCxnSpPr>
        <p:spPr>
          <a:xfrm>
            <a:off x="2505075" y="2667000"/>
            <a:ext cx="371475" cy="0"/>
          </a:xfrm>
          <a:prstGeom prst="straightConnector1">
            <a:avLst/>
          </a:prstGeom>
          <a:ln w="19050">
            <a:solidFill>
              <a:srgbClr val="4B5563"/>
            </a:solidFill>
            <a:prstDash val="solid"/>
            <a:tailEnd type="arrow" w="med" len="med"/>
          </a:ln>
        </p:spPr>
      </p:cxnSp>
      <p:cxnSp>
        <p:nvCxnSpPr>
          <p:cNvPr id="39" name="Connector: Elbow 38"/>
          <p:cNvCxnSpPr>
            <a:stCxn id="6" idx="3"/>
            <a:endCxn id="7" idx="1"/>
          </p:cNvCxnSpPr>
          <p:nvPr/>
        </p:nvCxnSpPr>
        <p:spPr>
          <a:xfrm flipV="1">
            <a:off x="4400550" y="2133600"/>
            <a:ext cx="361950" cy="533400"/>
          </a:xfrm>
          <a:prstGeom prst="bentConnector3">
            <a:avLst>
              <a:gd name="adj1" fmla="val 50000"/>
            </a:avLst>
          </a:prstGeom>
          <a:ln w="19050">
            <a:solidFill>
              <a:srgbClr val="2E9D62"/>
            </a:solidFill>
            <a:prstDash val="solid"/>
            <a:tailEnd type="arrow" w="med" len="med"/>
          </a:ln>
        </p:spPr>
      </p:cxnSp>
      <p:cxnSp>
        <p:nvCxnSpPr>
          <p:cNvPr id="40" name="Connector: Elbow 39"/>
          <p:cNvCxnSpPr>
            <a:stCxn id="6" idx="2"/>
            <a:endCxn id="8" idx="1"/>
          </p:cNvCxnSpPr>
          <p:nvPr/>
        </p:nvCxnSpPr>
        <p:spPr>
          <a:xfrm>
            <a:off x="3638550" y="3181350"/>
            <a:ext cx="1123950" cy="228600"/>
          </a:xfrm>
          <a:prstGeom prst="bentConnector4">
            <a:avLst/>
          </a:prstGeom>
          <a:ln w="19050">
            <a:solidFill>
              <a:srgbClr val="C47A00"/>
            </a:solidFill>
            <a:prstDash val="solid"/>
            <a:tailEnd type="arrow" w="med" len="med"/>
          </a:ln>
        </p:spPr>
      </p:cxnSp>
      <p:cxnSp>
        <p:nvCxnSpPr>
          <p:cNvPr id="41" name="Connector: Elbow 40"/>
          <p:cNvCxnSpPr>
            <a:stCxn id="7" idx="3"/>
            <a:endCxn id="9" idx="1"/>
          </p:cNvCxnSpPr>
          <p:nvPr/>
        </p:nvCxnSpPr>
        <p:spPr>
          <a:xfrm>
            <a:off x="6477000" y="2133600"/>
            <a:ext cx="3048000" cy="552450"/>
          </a:xfrm>
          <a:prstGeom prst="bentConnector4">
            <a:avLst/>
          </a:prstGeom>
          <a:ln w="19050">
            <a:solidFill>
              <a:srgbClr val="4B5563"/>
            </a:solidFill>
            <a:prstDash val="solid"/>
            <a:tailEnd type="arrow" w="med" len="med"/>
          </a:ln>
        </p:spPr>
      </p:cxnSp>
      <p:cxnSp>
        <p:nvCxnSpPr>
          <p:cNvPr id="42" name="Connector: Elbow 41"/>
          <p:cNvCxnSpPr>
            <a:stCxn id="8" idx="3"/>
            <a:endCxn id="10" idx="1"/>
          </p:cNvCxnSpPr>
          <p:nvPr/>
        </p:nvCxnSpPr>
        <p:spPr>
          <a:xfrm flipV="1">
            <a:off x="6477000" y="2238375"/>
            <a:ext cx="571500" cy="1019175"/>
          </a:xfrm>
          <a:prstGeom prst="bentConnector3">
            <a:avLst>
              <a:gd name="adj1" fmla="val 50000"/>
            </a:avLst>
          </a:prstGeom>
          <a:ln w="19050">
            <a:solidFill>
              <a:srgbClr val="4B5563"/>
            </a:solidFill>
            <a:prstDash val="solid"/>
            <a:tailEnd type="arrow" w="med" len="med"/>
          </a:ln>
        </p:spPr>
      </p:cxnSp>
      <p:cxnSp>
        <p:nvCxnSpPr>
          <p:cNvPr id="43" name="Connector: Elbow 42"/>
          <p:cNvCxnSpPr>
            <a:stCxn id="8" idx="3"/>
            <a:endCxn id="11" idx="1"/>
          </p:cNvCxnSpPr>
          <p:nvPr/>
        </p:nvCxnSpPr>
        <p:spPr>
          <a:xfrm flipV="1">
            <a:off x="6477000" y="3143250"/>
            <a:ext cx="571500" cy="114300"/>
          </a:xfrm>
          <a:prstGeom prst="bentConnector3">
            <a:avLst>
              <a:gd name="adj1" fmla="val 50000"/>
            </a:avLst>
          </a:prstGeom>
          <a:ln w="19050">
            <a:solidFill>
              <a:srgbClr val="4B5563"/>
            </a:solidFill>
            <a:prstDash val="solid"/>
            <a:tailEnd type="arrow" w="med" len="med"/>
          </a:ln>
        </p:spPr>
      </p:cxnSp>
      <p:cxnSp>
        <p:nvCxnSpPr>
          <p:cNvPr id="44" name="Connector: Elbow 43"/>
          <p:cNvCxnSpPr>
            <a:stCxn id="8" idx="3"/>
            <a:endCxn id="12" idx="1"/>
          </p:cNvCxnSpPr>
          <p:nvPr/>
        </p:nvCxnSpPr>
        <p:spPr>
          <a:xfrm>
            <a:off x="6477000" y="3257550"/>
            <a:ext cx="571500" cy="790575"/>
          </a:xfrm>
          <a:prstGeom prst="bentConnector3">
            <a:avLst>
              <a:gd name="adj1" fmla="val 50000"/>
            </a:avLst>
          </a:prstGeom>
          <a:ln w="19050">
            <a:solidFill>
              <a:srgbClr val="4B5563"/>
            </a:solidFill>
            <a:prstDash val="solid"/>
            <a:tailEnd type="arrow" w="med" len="med"/>
          </a:ln>
        </p:spPr>
      </p:cxnSp>
      <p:cxnSp>
        <p:nvCxnSpPr>
          <p:cNvPr id="45" name="Connector: Elbow 44"/>
          <p:cNvCxnSpPr>
            <a:stCxn id="10" idx="3"/>
            <a:endCxn id="9" idx="1"/>
          </p:cNvCxnSpPr>
          <p:nvPr/>
        </p:nvCxnSpPr>
        <p:spPr>
          <a:xfrm>
            <a:off x="8477250" y="2238375"/>
            <a:ext cx="1047750" cy="428625"/>
          </a:xfrm>
          <a:prstGeom prst="bentConnector3">
            <a:avLst>
              <a:gd name="adj1" fmla="val 50000"/>
            </a:avLst>
          </a:prstGeom>
          <a:ln w="19050">
            <a:solidFill>
              <a:srgbClr val="4B5563"/>
            </a:solidFill>
            <a:prstDash val="solid"/>
            <a:tailEnd type="arrow" w="med" len="med"/>
          </a:ln>
        </p:spPr>
      </p:cxnSp>
      <p:cxnSp>
        <p:nvCxnSpPr>
          <p:cNvPr id="46" name="Connector: Elbow 45"/>
          <p:cNvCxnSpPr>
            <a:stCxn id="11" idx="3"/>
            <a:endCxn id="9" idx="1"/>
          </p:cNvCxnSpPr>
          <p:nvPr/>
        </p:nvCxnSpPr>
        <p:spPr>
          <a:xfrm flipV="1">
            <a:off x="8477250" y="2667000"/>
            <a:ext cx="1047750" cy="476250"/>
          </a:xfrm>
          <a:prstGeom prst="bentConnector3">
            <a:avLst>
              <a:gd name="adj1" fmla="val 50000"/>
            </a:avLst>
          </a:prstGeom>
          <a:ln w="19050">
            <a:solidFill>
              <a:srgbClr val="4B5563"/>
            </a:solidFill>
            <a:prstDash val="solid"/>
            <a:tailEnd type="arrow" w="med" len="med"/>
          </a:ln>
        </p:spPr>
      </p:cxnSp>
      <p:cxnSp>
        <p:nvCxnSpPr>
          <p:cNvPr id="47" name="Connector: Elbow 46"/>
          <p:cNvCxnSpPr>
            <a:stCxn id="12" idx="3"/>
            <a:endCxn id="9" idx="1"/>
          </p:cNvCxnSpPr>
          <p:nvPr/>
        </p:nvCxnSpPr>
        <p:spPr>
          <a:xfrm flipV="1">
            <a:off x="8763000" y="2667000"/>
            <a:ext cx="762000" cy="1381125"/>
          </a:xfrm>
          <a:prstGeom prst="bentConnector3">
            <a:avLst>
              <a:gd name="adj1" fmla="val 50000"/>
            </a:avLst>
          </a:prstGeom>
          <a:ln w="19050">
            <a:solidFill>
              <a:srgbClr val="4B5563"/>
            </a:solidFill>
            <a:prstDash val="solid"/>
            <a:tailEnd type="arrow" w="med" len="med"/>
          </a:ln>
        </p:spPr>
      </p:cxnSp>
      <p:sp>
        <p:nvSpPr>
          <p:cNvPr id="23" name="Rectangle 22">
            <a:extLst>
              <a:ext uri="{FF2B5EF4-FFF2-40B4-BE49-F238E27FC236}">
                <a16:creationId xmlns:a16="http://schemas.microsoft.com/office/drawing/2014/main" id="{8F156DA4-DAF6-478E-A4EA-5AB4BE768FF6}"/>
              </a:ext>
            </a:extLst>
          </p:cNvPr>
          <p:cNvSpPr>
            <a:spLocks noGrp="1"/>
          </p:cNvSpPr>
          <p:nvPr/>
        </p:nvSpPr>
        <p:spPr>
          <a:xfrm>
            <a:off x="571500" y="4762500"/>
            <a:ext cx="1809750" cy="266700"/>
          </a:xfrm>
          <a:prstGeom prst="rect">
            <a:avLst/>
          </a:prstGeom>
          <a:noFill/>
          <a:ln w="0">
            <a:noFill/>
            <a:prstDash val="solid"/>
          </a:ln>
        </p:spPr>
        <p:txBody>
          <a:bodyPr anchor="t">
            <a:normAutofit fontScale="85185"/>
          </a:bodyPr>
          <a:lstStyle/>
          <a:p>
            <a:pPr algn="l">
              <a:defRPr sz="1350" b="1">
                <a:solidFill>
                  <a:srgbClr val="0B1220"/>
                </a:solidFill>
                <a:latin typeface="Arial"/>
                <a:ea typeface="Arial"/>
                <a:cs typeface="Arial"/>
              </a:defRPr>
            </a:pPr>
            <a:r>
              <a:rPr sz="1350" b="1">
                <a:solidFill>
                  <a:srgbClr val="0B1220"/>
                </a:solidFill>
                <a:latin typeface="Arial"/>
                <a:ea typeface="Arial"/>
                <a:cs typeface="Arial"/>
              </a:rPr>
              <a:t>Valid categories</a:t>
            </a:r>
          </a:p>
        </p:txBody>
      </p:sp>
      <p:sp>
        <p:nvSpPr>
          <p:cNvPr id="24" name="Rectangle 23">
            <a:extLst>
              <a:ext uri="{FF2B5EF4-FFF2-40B4-BE49-F238E27FC236}">
                <a16:creationId xmlns:a16="http://schemas.microsoft.com/office/drawing/2014/main" id="{4AEC4914-CAD5-4921-BB1D-1B443B008BFD}"/>
              </a:ext>
            </a:extLst>
          </p:cNvPr>
          <p:cNvSpPr>
            <a:spLocks noGrp="1"/>
          </p:cNvSpPr>
          <p:nvPr/>
        </p:nvSpPr>
        <p:spPr>
          <a:xfrm>
            <a:off x="571500" y="5114925"/>
            <a:ext cx="9906000" cy="381000"/>
          </a:xfrm>
          <a:prstGeom prst="rect">
            <a:avLst/>
          </a:prstGeom>
          <a:noFill/>
          <a:ln w="0">
            <a:noFill/>
            <a:prstDash val="solid"/>
          </a:ln>
        </p:spPr>
        <p:txBody>
          <a:bodyPr anchor="t">
            <a:normAutofit/>
          </a:bodyPr>
          <a:lstStyle/>
          <a:p>
            <a:pPr algn="l">
              <a:defRPr sz="1650" b="0">
                <a:solidFill>
                  <a:srgbClr val="4B5563"/>
                </a:solidFill>
                <a:latin typeface="Arial"/>
                <a:ea typeface="Arial"/>
                <a:cs typeface="Arial"/>
              </a:defRPr>
            </a:pPr>
            <a:r>
              <a:rPr sz="1650" b="0">
                <a:solidFill>
                  <a:srgbClr val="4B5563"/>
                </a:solidFill>
                <a:latin typeface="Arial"/>
                <a:ea typeface="Arial"/>
                <a:cs typeface="Arial"/>
              </a:rPr>
              <a:t>travel  •  meals  •  supplies  •  equipment  •  software  •  other</a:t>
            </a:r>
          </a:p>
        </p:txBody>
      </p:sp>
      <p:sp>
        <p:nvSpPr>
          <p:cNvPr id="25" name="Rectangle 24">
            <a:extLst>
              <a:ext uri="{FF2B5EF4-FFF2-40B4-BE49-F238E27FC236}">
                <a16:creationId xmlns:a16="http://schemas.microsoft.com/office/drawing/2014/main" id="{3A77BA0F-DB9C-4921-A153-B6B5E34B019C}"/>
              </a:ext>
            </a:extLst>
          </p:cNvPr>
          <p:cNvSpPr>
            <a:spLocks noGrp="1"/>
          </p:cNvSpPr>
          <p:nvPr/>
        </p:nvSpPr>
        <p:spPr>
          <a:xfrm>
            <a:off x="571500" y="5810250"/>
            <a:ext cx="9048750" cy="342900"/>
          </a:xfrm>
          <a:prstGeom prst="rect">
            <a:avLst/>
          </a:prstGeom>
          <a:noFill/>
          <a:ln w="0">
            <a:noFill/>
            <a:prstDash val="solid"/>
          </a:ln>
        </p:spPr>
        <p:txBody>
          <a:bodyPr anchor="t">
            <a:normAutofit fontScale="91667" lnSpcReduction="10000"/>
          </a:bodyPr>
          <a:lstStyle/>
          <a:p>
            <a:pPr algn="l">
              <a:defRPr sz="1800" b="1">
                <a:solidFill>
                  <a:srgbClr val="2F80ED"/>
                </a:solidFill>
                <a:latin typeface="Arial"/>
                <a:ea typeface="Arial"/>
                <a:cs typeface="Arial"/>
              </a:defRPr>
            </a:pPr>
            <a:r>
              <a:rPr sz="1800" b="1">
                <a:solidFill>
                  <a:srgbClr val="2F80ED"/>
                </a:solidFill>
                <a:latin typeface="Arial"/>
                <a:ea typeface="Arial"/>
                <a:cs typeface="Arial"/>
              </a:rPr>
              <a:t>The implementation changes; the business rules do not.</a:t>
            </a:r>
          </a:p>
        </p:txBody>
      </p:sp>
    </p:spTree>
    <p:extLst>
      <p:ext uri="{BB962C8B-B14F-4D97-AF65-F5344CB8AC3E}">
        <p14:creationId xmlns:p14="http://schemas.microsoft.com/office/powerpoint/2010/main" val="2121510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CE60EEB-5BBA-41DA-B6D6-8378872B3358}"/>
              </a:ext>
            </a:extLst>
          </p:cNvPr>
          <p:cNvSpPr>
            <a:spLocks noGrp="1"/>
          </p:cNvSpPr>
          <p:nvPr/>
        </p:nvSpPr>
        <p:spPr>
          <a:xfrm>
            <a:off x="533400" y="323850"/>
            <a:ext cx="3143250" cy="266700"/>
          </a:xfrm>
          <a:prstGeom prst="rect">
            <a:avLst/>
          </a:prstGeom>
          <a:noFill/>
          <a:ln w="0">
            <a:noFill/>
            <a:prstDash val="solid"/>
          </a:ln>
        </p:spPr>
        <p:txBody>
          <a:bodyPr anchor="t">
            <a:normAutofit/>
          </a:bodyPr>
          <a:lstStyle/>
          <a:p>
            <a:pPr algn="l">
              <a:defRPr sz="1125" b="1">
                <a:solidFill>
                  <a:srgbClr val="2F80ED"/>
                </a:solidFill>
                <a:latin typeface="Arial"/>
                <a:ea typeface="Arial"/>
                <a:cs typeface="Arial"/>
              </a:defRPr>
            </a:pPr>
            <a:r>
              <a:rPr sz="1125" b="1">
                <a:solidFill>
                  <a:srgbClr val="2F80ED"/>
                </a:solidFill>
                <a:latin typeface="Arial"/>
                <a:ea typeface="Arial"/>
                <a:cs typeface="Arial"/>
              </a:rPr>
              <a:t>DURABLE FUNCTIONS</a:t>
            </a:r>
          </a:p>
        </p:txBody>
      </p:sp>
      <p:sp>
        <p:nvSpPr>
          <p:cNvPr id="2" name="slide-3-title">
            <a:extLst>
              <a:ext uri="{FF2B5EF4-FFF2-40B4-BE49-F238E27FC236}">
                <a16:creationId xmlns:a16="http://schemas.microsoft.com/office/drawing/2014/main" id="{113CE8A4-9BEB-4C16-9E67-68C69509E318}"/>
              </a:ext>
            </a:extLst>
          </p:cNvPr>
          <p:cNvSpPr>
            <a:spLocks noGrp="1"/>
          </p:cNvSpPr>
          <p:nvPr/>
        </p:nvSpPr>
        <p:spPr>
          <a:xfrm>
            <a:off x="533400" y="628650"/>
            <a:ext cx="10763250" cy="742950"/>
          </a:xfrm>
          <a:prstGeom prst="rect">
            <a:avLst/>
          </a:prstGeom>
          <a:noFill/>
          <a:ln w="0">
            <a:noFill/>
            <a:prstDash val="solid"/>
          </a:ln>
        </p:spPr>
        <p:txBody>
          <a:bodyPr anchor="t">
            <a:normAutofit/>
          </a:bodyPr>
          <a:lstStyle/>
          <a:p>
            <a:pPr algn="l">
              <a:defRPr sz="2925" b="1">
                <a:solidFill>
                  <a:srgbClr val="0B1220"/>
                </a:solidFill>
                <a:latin typeface="Arial"/>
                <a:ea typeface="Arial"/>
                <a:cs typeface="Arial"/>
              </a:defRPr>
            </a:pPr>
            <a:r>
              <a:rPr sz="2925" b="1">
                <a:solidFill>
                  <a:srgbClr val="0B1220"/>
                </a:solidFill>
                <a:latin typeface="Arial"/>
                <a:ea typeface="Arial"/>
                <a:cs typeface="Arial"/>
              </a:rPr>
              <a:t>Version A keeps orchestration logic in code</a:t>
            </a:r>
          </a:p>
        </p:txBody>
      </p:sp>
      <p:sp>
        <p:nvSpPr>
          <p:cNvPr id="3" name="Rectangle 2">
            <a:extLst>
              <a:ext uri="{FF2B5EF4-FFF2-40B4-BE49-F238E27FC236}">
                <a16:creationId xmlns:a16="http://schemas.microsoft.com/office/drawing/2014/main" id="{0CAE2228-4FC2-499D-BD54-D0A2318DCF38}"/>
              </a:ext>
            </a:extLst>
          </p:cNvPr>
          <p:cNvSpPr>
            <a:spLocks noGrp="1"/>
          </p:cNvSpPr>
          <p:nvPr/>
        </p:nvSpPr>
        <p:spPr>
          <a:xfrm>
            <a:off x="533400" y="1409700"/>
            <a:ext cx="11125200" cy="19050"/>
          </a:xfrm>
          <a:prstGeom prst="rect">
            <a:avLst/>
          </a:prstGeom>
          <a:solidFill>
            <a:srgbClr val="B8BCC4"/>
          </a:solidFill>
          <a:ln w="0">
            <a:solidFill>
              <a:srgbClr val="B8BCC4"/>
            </a:solidFill>
            <a:prstDash val="solid"/>
          </a:ln>
        </p:spPr>
        <p:txBody>
          <a:bodyPr/>
          <a:lstStyle/>
          <a:p>
            <a:endParaRPr lang="zh-CN" altLang="en-US"/>
          </a:p>
        </p:txBody>
      </p:sp>
      <p:sp>
        <p:nvSpPr>
          <p:cNvPr id="4" name="Rectangle 3">
            <a:extLst>
              <a:ext uri="{FF2B5EF4-FFF2-40B4-BE49-F238E27FC236}">
                <a16:creationId xmlns:a16="http://schemas.microsoft.com/office/drawing/2014/main" id="{29E0B78B-4D80-4606-802E-EA3D5FD5A86D}"/>
              </a:ext>
            </a:extLst>
          </p:cNvPr>
          <p:cNvSpPr>
            <a:spLocks noGrp="1"/>
          </p:cNvSpPr>
          <p:nvPr/>
        </p:nvSpPr>
        <p:spPr>
          <a:xfrm>
            <a:off x="11191875" y="6419850"/>
            <a:ext cx="457200" cy="190500"/>
          </a:xfrm>
          <a:prstGeom prst="rect">
            <a:avLst/>
          </a:prstGeom>
          <a:noFill/>
          <a:ln w="0">
            <a:noFill/>
            <a:prstDash val="solid"/>
          </a:ln>
        </p:spPr>
        <p:txBody>
          <a:bodyPr anchor="t">
            <a:normAutofit fontScale="79722" lnSpcReduction="10000"/>
          </a:bodyPr>
          <a:lstStyle/>
          <a:p>
            <a:pPr algn="r">
              <a:defRPr sz="900" b="0">
                <a:solidFill>
                  <a:srgbClr val="4B5563"/>
                </a:solidFill>
                <a:latin typeface="Arial"/>
                <a:ea typeface="Arial"/>
                <a:cs typeface="Arial"/>
              </a:defRPr>
            </a:pPr>
            <a:r>
              <a:rPr sz="900" b="0">
                <a:solidFill>
                  <a:srgbClr val="4B5563"/>
                </a:solidFill>
                <a:latin typeface="Arial"/>
                <a:ea typeface="Arial"/>
                <a:cs typeface="Arial"/>
              </a:rPr>
              <a:t>03</a:t>
            </a:r>
          </a:p>
        </p:txBody>
      </p:sp>
      <p:sp>
        <p:nvSpPr>
          <p:cNvPr id="5" name="Rectangle: Rounded Corners 4">
            <a:extLst>
              <a:ext uri="{FF2B5EF4-FFF2-40B4-BE49-F238E27FC236}">
                <a16:creationId xmlns:a16="http://schemas.microsoft.com/office/drawing/2014/main" id="{E8713088-F5ED-4E1E-A5EA-33DC8BA9E15A}"/>
              </a:ext>
            </a:extLst>
          </p:cNvPr>
          <p:cNvSpPr>
            <a:spLocks noGrp="1"/>
          </p:cNvSpPr>
          <p:nvPr/>
        </p:nvSpPr>
        <p:spPr>
          <a:xfrm>
            <a:off x="552450" y="2362200"/>
            <a:ext cx="1714500" cy="952500"/>
          </a:xfrm>
          <a:prstGeom prst="roundRect">
            <a:avLst>
              <a:gd name="adj" fmla="val 8000"/>
            </a:avLst>
          </a:prstGeom>
          <a:solidFill>
            <a:srgbClr val="DCEEFF"/>
          </a:solidFill>
          <a:ln w="11430">
            <a:solidFill>
              <a:srgbClr val="B8BCC4"/>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HTTP client</a:t>
            </a:r>
          </a:p>
          <a:p>
            <a:pPr algn="ctr">
              <a:defRPr sz="1350" b="1">
                <a:solidFill>
                  <a:srgbClr val="0B1220"/>
                </a:solidFill>
                <a:latin typeface="Arial"/>
                <a:ea typeface="Arial"/>
                <a:cs typeface="Arial"/>
              </a:defRPr>
            </a:pPr>
            <a:r>
              <a:rPr sz="1350" b="1">
                <a:solidFill>
                  <a:srgbClr val="0B1220"/>
                </a:solidFill>
                <a:latin typeface="Arial"/>
                <a:ea typeface="Arial"/>
                <a:cs typeface="Arial"/>
              </a:rPr>
              <a:t>start request</a:t>
            </a:r>
          </a:p>
        </p:txBody>
      </p:sp>
      <p:sp>
        <p:nvSpPr>
          <p:cNvPr id="6" name="Rectangle: Rounded Corners 5">
            <a:extLst>
              <a:ext uri="{FF2B5EF4-FFF2-40B4-BE49-F238E27FC236}">
                <a16:creationId xmlns:a16="http://schemas.microsoft.com/office/drawing/2014/main" id="{F857F4D9-94F4-4E90-AE02-C0F64A638FCB}"/>
              </a:ext>
            </a:extLst>
          </p:cNvPr>
          <p:cNvSpPr>
            <a:spLocks noGrp="1"/>
          </p:cNvSpPr>
          <p:nvPr/>
        </p:nvSpPr>
        <p:spPr>
          <a:xfrm>
            <a:off x="2762250" y="2171700"/>
            <a:ext cx="1952625" cy="1333500"/>
          </a:xfrm>
          <a:prstGeom prst="roundRect">
            <a:avLst>
              <a:gd name="adj" fmla="val 5714"/>
            </a:avLst>
          </a:prstGeom>
          <a:solidFill>
            <a:srgbClr val="DCEEFF"/>
          </a:solidFill>
          <a:ln w="11430">
            <a:solidFill>
              <a:srgbClr val="2F80ED"/>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Orchestrator</a:t>
            </a:r>
          </a:p>
          <a:p>
            <a:pPr algn="ctr">
              <a:defRPr sz="1350" b="1">
                <a:solidFill>
                  <a:srgbClr val="0B1220"/>
                </a:solidFill>
                <a:latin typeface="Arial"/>
                <a:ea typeface="Arial"/>
                <a:cs typeface="Arial"/>
              </a:defRPr>
            </a:pPr>
            <a:r>
              <a:rPr sz="1350" b="1">
                <a:solidFill>
                  <a:srgbClr val="0B1220"/>
                </a:solidFill>
                <a:latin typeface="Arial"/>
                <a:ea typeface="Arial"/>
                <a:cs typeface="Arial"/>
              </a:rPr>
              <a:t>coordinates state</a:t>
            </a:r>
          </a:p>
        </p:txBody>
      </p:sp>
      <p:sp>
        <p:nvSpPr>
          <p:cNvPr id="7" name="Rectangle: Rounded Corners 6">
            <a:extLst>
              <a:ext uri="{FF2B5EF4-FFF2-40B4-BE49-F238E27FC236}">
                <a16:creationId xmlns:a16="http://schemas.microsoft.com/office/drawing/2014/main" id="{054D5D8F-F82F-43A7-A182-688CF8E9D349}"/>
              </a:ext>
            </a:extLst>
          </p:cNvPr>
          <p:cNvSpPr>
            <a:spLocks noGrp="1"/>
          </p:cNvSpPr>
          <p:nvPr/>
        </p:nvSpPr>
        <p:spPr>
          <a:xfrm>
            <a:off x="5334000" y="1714500"/>
            <a:ext cx="1619250" cy="762000"/>
          </a:xfrm>
          <a:prstGeom prst="roundRect">
            <a:avLst>
              <a:gd name="adj" fmla="val 10000"/>
            </a:avLst>
          </a:prstGeom>
          <a:solidFill>
            <a:srgbClr val="EEF2F6"/>
          </a:solidFill>
          <a:ln w="11430">
            <a:solidFill>
              <a:srgbClr val="B8BCC4"/>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Activity</a:t>
            </a:r>
          </a:p>
          <a:p>
            <a:pPr algn="ctr">
              <a:defRPr sz="1350" b="1">
                <a:solidFill>
                  <a:srgbClr val="0B1220"/>
                </a:solidFill>
                <a:latin typeface="Arial"/>
                <a:ea typeface="Arial"/>
                <a:cs typeface="Arial"/>
              </a:defRPr>
            </a:pPr>
            <a:r>
              <a:rPr sz="1350" b="1">
                <a:solidFill>
                  <a:srgbClr val="0B1220"/>
                </a:solidFill>
                <a:latin typeface="Arial"/>
                <a:ea typeface="Arial"/>
                <a:cs typeface="Arial"/>
              </a:rPr>
              <a:t>validate</a:t>
            </a:r>
          </a:p>
        </p:txBody>
      </p:sp>
      <p:sp>
        <p:nvSpPr>
          <p:cNvPr id="8" name="Rectangle: Rounded Corners 7">
            <a:extLst>
              <a:ext uri="{FF2B5EF4-FFF2-40B4-BE49-F238E27FC236}">
                <a16:creationId xmlns:a16="http://schemas.microsoft.com/office/drawing/2014/main" id="{2C2B7742-B73A-4AE0-A6F4-8FF0922CF02D}"/>
              </a:ext>
            </a:extLst>
          </p:cNvPr>
          <p:cNvSpPr>
            <a:spLocks noGrp="1"/>
          </p:cNvSpPr>
          <p:nvPr/>
        </p:nvSpPr>
        <p:spPr>
          <a:xfrm>
            <a:off x="5334000" y="2857500"/>
            <a:ext cx="1619250" cy="904875"/>
          </a:xfrm>
          <a:prstGeom prst="roundRect">
            <a:avLst>
              <a:gd name="adj" fmla="val 8421"/>
            </a:avLst>
          </a:prstGeom>
          <a:solidFill>
            <a:srgbClr val="FFF1D6"/>
          </a:solidFill>
          <a:ln w="11430">
            <a:solidFill>
              <a:srgbClr val="C47A00"/>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External event</a:t>
            </a:r>
          </a:p>
          <a:p>
            <a:pPr algn="ctr">
              <a:defRPr sz="1350" b="1">
                <a:solidFill>
                  <a:srgbClr val="0B1220"/>
                </a:solidFill>
                <a:latin typeface="Arial"/>
                <a:ea typeface="Arial"/>
                <a:cs typeface="Arial"/>
              </a:defRPr>
            </a:pPr>
            <a:r>
              <a:rPr sz="1350" b="1">
                <a:solidFill>
                  <a:srgbClr val="0B1220"/>
                </a:solidFill>
                <a:latin typeface="Arial"/>
                <a:ea typeface="Arial"/>
                <a:cs typeface="Arial"/>
              </a:rPr>
              <a:t>+ durable timer</a:t>
            </a:r>
          </a:p>
        </p:txBody>
      </p:sp>
      <p:sp>
        <p:nvSpPr>
          <p:cNvPr id="9" name="Rectangle: Rounded Corners 8">
            <a:extLst>
              <a:ext uri="{FF2B5EF4-FFF2-40B4-BE49-F238E27FC236}">
                <a16:creationId xmlns:a16="http://schemas.microsoft.com/office/drawing/2014/main" id="{AD10512F-8FE7-4204-BCC9-0BE26E81F3A1}"/>
              </a:ext>
            </a:extLst>
          </p:cNvPr>
          <p:cNvSpPr>
            <a:spLocks noGrp="1"/>
          </p:cNvSpPr>
          <p:nvPr/>
        </p:nvSpPr>
        <p:spPr>
          <a:xfrm>
            <a:off x="7715250" y="2286000"/>
            <a:ext cx="1809750" cy="1047750"/>
          </a:xfrm>
          <a:prstGeom prst="roundRect">
            <a:avLst>
              <a:gd name="adj" fmla="val 7273"/>
            </a:avLst>
          </a:prstGeom>
          <a:solidFill>
            <a:srgbClr val="EEF2F6"/>
          </a:solidFill>
          <a:ln w="11430">
            <a:solidFill>
              <a:srgbClr val="B8BCC4"/>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Activities</a:t>
            </a:r>
          </a:p>
          <a:p>
            <a:pPr algn="ctr">
              <a:defRPr sz="1350" b="1">
                <a:solidFill>
                  <a:srgbClr val="0B1220"/>
                </a:solidFill>
                <a:latin typeface="Arial"/>
                <a:ea typeface="Arial"/>
                <a:cs typeface="Arial"/>
              </a:defRPr>
            </a:pPr>
            <a:r>
              <a:rPr sz="1350" b="1">
                <a:solidFill>
                  <a:srgbClr val="0B1220"/>
                </a:solidFill>
                <a:latin typeface="Arial"/>
                <a:ea typeface="Arial"/>
                <a:cs typeface="Arial"/>
              </a:rPr>
              <a:t>process + notify</a:t>
            </a:r>
          </a:p>
        </p:txBody>
      </p:sp>
      <p:sp>
        <p:nvSpPr>
          <p:cNvPr id="10" name="Rectangle: Rounded Corners 9">
            <a:extLst>
              <a:ext uri="{FF2B5EF4-FFF2-40B4-BE49-F238E27FC236}">
                <a16:creationId xmlns:a16="http://schemas.microsoft.com/office/drawing/2014/main" id="{7D6E5321-55EB-40EB-8156-12E84608AEAB}"/>
              </a:ext>
            </a:extLst>
          </p:cNvPr>
          <p:cNvSpPr>
            <a:spLocks noGrp="1"/>
          </p:cNvSpPr>
          <p:nvPr/>
        </p:nvSpPr>
        <p:spPr>
          <a:xfrm>
            <a:off x="10001250" y="2286000"/>
            <a:ext cx="1619250" cy="1047750"/>
          </a:xfrm>
          <a:prstGeom prst="roundRect">
            <a:avLst>
              <a:gd name="adj" fmla="val 7273"/>
            </a:avLst>
          </a:prstGeom>
          <a:solidFill>
            <a:srgbClr val="DCF4E7"/>
          </a:solidFill>
          <a:ln w="11430">
            <a:solidFill>
              <a:srgbClr val="2E9D62"/>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Final status</a:t>
            </a:r>
          </a:p>
          <a:p>
            <a:pPr algn="ctr">
              <a:defRPr sz="1350" b="1">
                <a:solidFill>
                  <a:srgbClr val="0B1220"/>
                </a:solidFill>
                <a:latin typeface="Arial"/>
                <a:ea typeface="Arial"/>
                <a:cs typeface="Arial"/>
              </a:defRPr>
            </a:pPr>
            <a:r>
              <a:rPr sz="1350" b="1">
                <a:solidFill>
                  <a:srgbClr val="0B1220"/>
                </a:solidFill>
                <a:latin typeface="Arial"/>
                <a:ea typeface="Arial"/>
                <a:cs typeface="Arial"/>
              </a:rPr>
              <a:t>+ employee email</a:t>
            </a:r>
          </a:p>
        </p:txBody>
      </p:sp>
      <p:cxnSp>
        <p:nvCxnSpPr>
          <p:cNvPr id="29" name="Straight Arrow Connector 28"/>
          <p:cNvCxnSpPr>
            <a:stCxn id="5" idx="3"/>
            <a:endCxn id="6" idx="1"/>
          </p:cNvCxnSpPr>
          <p:nvPr/>
        </p:nvCxnSpPr>
        <p:spPr>
          <a:xfrm>
            <a:off x="2266950" y="2838450"/>
            <a:ext cx="495300" cy="0"/>
          </a:xfrm>
          <a:prstGeom prst="straightConnector1">
            <a:avLst/>
          </a:prstGeom>
          <a:ln w="19050">
            <a:solidFill>
              <a:srgbClr val="4B5563"/>
            </a:solidFill>
            <a:prstDash val="solid"/>
            <a:tailEnd type="arrow" w="med" len="med"/>
          </a:ln>
        </p:spPr>
      </p:cxnSp>
      <p:cxnSp>
        <p:nvCxnSpPr>
          <p:cNvPr id="30" name="Connector: Elbow 29"/>
          <p:cNvCxnSpPr>
            <a:stCxn id="6" idx="3"/>
            <a:endCxn id="7" idx="1"/>
          </p:cNvCxnSpPr>
          <p:nvPr/>
        </p:nvCxnSpPr>
        <p:spPr>
          <a:xfrm flipV="1">
            <a:off x="4714875" y="2095500"/>
            <a:ext cx="619125" cy="742950"/>
          </a:xfrm>
          <a:prstGeom prst="bentConnector3">
            <a:avLst>
              <a:gd name="adj1" fmla="val 50000"/>
            </a:avLst>
          </a:prstGeom>
          <a:ln w="19050">
            <a:solidFill>
              <a:srgbClr val="4B5563"/>
            </a:solidFill>
            <a:prstDash val="solid"/>
            <a:tailEnd type="arrow" w="med" len="med"/>
          </a:ln>
        </p:spPr>
      </p:cxnSp>
      <p:cxnSp>
        <p:nvCxnSpPr>
          <p:cNvPr id="31" name="Connector: Elbow 30"/>
          <p:cNvCxnSpPr>
            <a:stCxn id="6" idx="3"/>
            <a:endCxn id="8" idx="1"/>
          </p:cNvCxnSpPr>
          <p:nvPr/>
        </p:nvCxnSpPr>
        <p:spPr>
          <a:xfrm>
            <a:off x="4714875" y="2838450"/>
            <a:ext cx="619125" cy="471488"/>
          </a:xfrm>
          <a:prstGeom prst="bentConnector3">
            <a:avLst>
              <a:gd name="adj1" fmla="val 50000"/>
            </a:avLst>
          </a:prstGeom>
          <a:ln w="19050">
            <a:solidFill>
              <a:srgbClr val="4B5563"/>
            </a:solidFill>
            <a:prstDash val="solid"/>
            <a:tailEnd type="arrow" w="med" len="med"/>
          </a:ln>
        </p:spPr>
      </p:cxnSp>
      <p:cxnSp>
        <p:nvCxnSpPr>
          <p:cNvPr id="32" name="Connector: Elbow 31"/>
          <p:cNvCxnSpPr>
            <a:stCxn id="7" idx="3"/>
            <a:endCxn id="9" idx="1"/>
          </p:cNvCxnSpPr>
          <p:nvPr/>
        </p:nvCxnSpPr>
        <p:spPr>
          <a:xfrm>
            <a:off x="6953250" y="2095500"/>
            <a:ext cx="762000" cy="714375"/>
          </a:xfrm>
          <a:prstGeom prst="bentConnector3">
            <a:avLst>
              <a:gd name="adj1" fmla="val 50000"/>
            </a:avLst>
          </a:prstGeom>
          <a:ln w="19050">
            <a:solidFill>
              <a:srgbClr val="4B5563"/>
            </a:solidFill>
            <a:prstDash val="solid"/>
            <a:tailEnd type="arrow" w="med" len="med"/>
          </a:ln>
        </p:spPr>
      </p:cxnSp>
      <p:cxnSp>
        <p:nvCxnSpPr>
          <p:cNvPr id="33" name="Connector: Elbow 32"/>
          <p:cNvCxnSpPr>
            <a:stCxn id="8" idx="3"/>
            <a:endCxn id="9" idx="1"/>
          </p:cNvCxnSpPr>
          <p:nvPr/>
        </p:nvCxnSpPr>
        <p:spPr>
          <a:xfrm flipV="1">
            <a:off x="6953250" y="2809875"/>
            <a:ext cx="762000" cy="500063"/>
          </a:xfrm>
          <a:prstGeom prst="bentConnector3">
            <a:avLst>
              <a:gd name="adj1" fmla="val 50000"/>
            </a:avLst>
          </a:prstGeom>
          <a:ln w="19050">
            <a:solidFill>
              <a:srgbClr val="4B5563"/>
            </a:solidFill>
            <a:prstDash val="solid"/>
            <a:tailEnd type="arrow" w="med" len="med"/>
          </a:ln>
        </p:spPr>
      </p:cxnSp>
      <p:cxnSp>
        <p:nvCxnSpPr>
          <p:cNvPr id="34" name="Straight Arrow Connector 33"/>
          <p:cNvCxnSpPr>
            <a:stCxn id="9" idx="3"/>
            <a:endCxn id="10" idx="1"/>
          </p:cNvCxnSpPr>
          <p:nvPr/>
        </p:nvCxnSpPr>
        <p:spPr>
          <a:xfrm>
            <a:off x="9525000" y="2809875"/>
            <a:ext cx="476250" cy="0"/>
          </a:xfrm>
          <a:prstGeom prst="straightConnector1">
            <a:avLst/>
          </a:prstGeom>
          <a:ln w="19050">
            <a:solidFill>
              <a:srgbClr val="4B5563"/>
            </a:solidFill>
            <a:prstDash val="solid"/>
            <a:tailEnd type="arrow" w="med" len="med"/>
          </a:ln>
        </p:spPr>
      </p:cxnSp>
      <p:sp>
        <p:nvSpPr>
          <p:cNvPr id="17" name="Rectangle 16">
            <a:extLst>
              <a:ext uri="{FF2B5EF4-FFF2-40B4-BE49-F238E27FC236}">
                <a16:creationId xmlns:a16="http://schemas.microsoft.com/office/drawing/2014/main" id="{0B977DFF-6F1F-484F-A470-05AEE2E96926}"/>
              </a:ext>
            </a:extLst>
          </p:cNvPr>
          <p:cNvSpPr>
            <a:spLocks noGrp="1"/>
          </p:cNvSpPr>
          <p:nvPr/>
        </p:nvSpPr>
        <p:spPr>
          <a:xfrm>
            <a:off x="552450" y="4476750"/>
            <a:ext cx="2095500" cy="285750"/>
          </a:xfrm>
          <a:prstGeom prst="rect">
            <a:avLst/>
          </a:prstGeom>
          <a:noFill/>
          <a:ln w="0">
            <a:noFill/>
            <a:prstDash val="solid"/>
          </a:ln>
        </p:spPr>
        <p:txBody>
          <a:bodyPr anchor="t">
            <a:normAutofit fontScale="70833" lnSpcReduction="10000"/>
          </a:bodyPr>
          <a:lstStyle/>
          <a:p>
            <a:pPr algn="l">
              <a:defRPr sz="1800" b="1">
                <a:solidFill>
                  <a:srgbClr val="0B1220"/>
                </a:solidFill>
                <a:latin typeface="Arial"/>
                <a:ea typeface="Arial"/>
                <a:cs typeface="Arial"/>
              </a:defRPr>
            </a:pPr>
            <a:r>
              <a:rPr sz="1800" b="1">
                <a:solidFill>
                  <a:srgbClr val="0B1220"/>
                </a:solidFill>
                <a:latin typeface="Arial"/>
                <a:ea typeface="Arial"/>
                <a:cs typeface="Arial"/>
              </a:rPr>
              <a:t>Design decisions</a:t>
            </a:r>
          </a:p>
        </p:txBody>
      </p:sp>
      <p:sp>
        <p:nvSpPr>
          <p:cNvPr id="18" name="Rectangle 17">
            <a:extLst>
              <a:ext uri="{FF2B5EF4-FFF2-40B4-BE49-F238E27FC236}">
                <a16:creationId xmlns:a16="http://schemas.microsoft.com/office/drawing/2014/main" id="{D58EBB56-4290-4512-942F-248C52E3F668}"/>
              </a:ext>
            </a:extLst>
          </p:cNvPr>
          <p:cNvSpPr>
            <a:spLocks noGrp="1"/>
          </p:cNvSpPr>
          <p:nvPr/>
        </p:nvSpPr>
        <p:spPr>
          <a:xfrm>
            <a:off x="552450" y="4905375"/>
            <a:ext cx="9810750" cy="952500"/>
          </a:xfrm>
          <a:prstGeom prst="rect">
            <a:avLst/>
          </a:prstGeom>
          <a:noFill/>
          <a:ln w="0">
            <a:noFill/>
            <a:prstDash val="solid"/>
          </a:ln>
        </p:spPr>
        <p:txBody>
          <a:bodyPr anchor="t">
            <a:normAutofit/>
          </a:bodyPr>
          <a:lstStyle/>
          <a:p>
            <a:pPr algn="l">
              <a:defRPr sz="1650" b="0">
                <a:solidFill>
                  <a:srgbClr val="4B5563"/>
                </a:solidFill>
                <a:latin typeface="Arial"/>
                <a:ea typeface="Arial"/>
                <a:cs typeface="Arial"/>
              </a:defRPr>
            </a:pPr>
            <a:r>
              <a:rPr sz="1650" b="0">
                <a:solidFill>
                  <a:srgbClr val="4B5563"/>
                </a:solidFill>
                <a:latin typeface="Arial"/>
                <a:ea typeface="Arial"/>
                <a:cs typeface="Arial"/>
              </a:rPr>
              <a:t>• Orchestrator stays deterministic</a:t>
            </a:r>
          </a:p>
          <a:p>
            <a:pPr algn="l">
              <a:defRPr sz="1650" b="0">
                <a:solidFill>
                  <a:srgbClr val="4B5563"/>
                </a:solidFill>
                <a:latin typeface="Arial"/>
                <a:ea typeface="Arial"/>
                <a:cs typeface="Arial"/>
              </a:defRPr>
            </a:pPr>
            <a:r>
              <a:rPr sz="1650" b="0">
                <a:solidFill>
                  <a:srgbClr val="4B5563"/>
                </a:solidFill>
                <a:latin typeface="Arial"/>
                <a:ea typeface="Arial"/>
                <a:cs typeface="Arial"/>
              </a:rPr>
              <a:t>• I/O work remains inside activities</a:t>
            </a:r>
          </a:p>
          <a:p>
            <a:pPr algn="l">
              <a:defRPr sz="1650" b="0">
                <a:solidFill>
                  <a:srgbClr val="4B5563"/>
                </a:solidFill>
                <a:latin typeface="Arial"/>
                <a:ea typeface="Arial"/>
                <a:cs typeface="Arial"/>
              </a:defRPr>
            </a:pPr>
            <a:r>
              <a:rPr sz="1650" b="0">
                <a:solidFill>
                  <a:srgbClr val="4B5563"/>
                </a:solidFill>
                <a:latin typeface="Arial"/>
                <a:ea typeface="Arial"/>
                <a:cs typeface="Arial"/>
              </a:rPr>
              <a:t>• Instance ID correlates status, logs, and manager events</a:t>
            </a:r>
          </a:p>
        </p:txBody>
      </p:sp>
    </p:spTree>
    <p:extLst>
      <p:ext uri="{BB962C8B-B14F-4D97-AF65-F5344CB8AC3E}">
        <p14:creationId xmlns:p14="http://schemas.microsoft.com/office/powerpoint/2010/main" val="1767192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60EA818-BF7C-4866-AA79-4C57B0E3817A}"/>
              </a:ext>
            </a:extLst>
          </p:cNvPr>
          <p:cNvSpPr>
            <a:spLocks noGrp="1"/>
          </p:cNvSpPr>
          <p:nvPr/>
        </p:nvSpPr>
        <p:spPr>
          <a:xfrm>
            <a:off x="533400" y="323850"/>
            <a:ext cx="3143250" cy="266700"/>
          </a:xfrm>
          <a:prstGeom prst="rect">
            <a:avLst/>
          </a:prstGeom>
          <a:noFill/>
          <a:ln w="0">
            <a:noFill/>
            <a:prstDash val="solid"/>
          </a:ln>
        </p:spPr>
        <p:txBody>
          <a:bodyPr anchor="t">
            <a:normAutofit/>
          </a:bodyPr>
          <a:lstStyle/>
          <a:p>
            <a:pPr algn="l">
              <a:defRPr sz="1125" b="1">
                <a:solidFill>
                  <a:srgbClr val="2F80ED"/>
                </a:solidFill>
                <a:latin typeface="Arial"/>
                <a:ea typeface="Arial"/>
                <a:cs typeface="Arial"/>
              </a:defRPr>
            </a:pPr>
            <a:r>
              <a:rPr sz="1125" b="1">
                <a:solidFill>
                  <a:srgbClr val="2F80ED"/>
                </a:solidFill>
                <a:latin typeface="Arial"/>
                <a:ea typeface="Arial"/>
                <a:cs typeface="Arial"/>
              </a:rPr>
              <a:t>HUMAN INTERACTION PATTERN</a:t>
            </a:r>
          </a:p>
        </p:txBody>
      </p:sp>
      <p:sp>
        <p:nvSpPr>
          <p:cNvPr id="2" name="slide-4-title">
            <a:extLst>
              <a:ext uri="{FF2B5EF4-FFF2-40B4-BE49-F238E27FC236}">
                <a16:creationId xmlns:a16="http://schemas.microsoft.com/office/drawing/2014/main" id="{AB0E78BF-7FD3-4AB7-B706-545D1D31B310}"/>
              </a:ext>
            </a:extLst>
          </p:cNvPr>
          <p:cNvSpPr>
            <a:spLocks noGrp="1"/>
          </p:cNvSpPr>
          <p:nvPr/>
        </p:nvSpPr>
        <p:spPr>
          <a:xfrm>
            <a:off x="533400" y="628650"/>
            <a:ext cx="10763250" cy="742950"/>
          </a:xfrm>
          <a:prstGeom prst="rect">
            <a:avLst/>
          </a:prstGeom>
          <a:noFill/>
          <a:ln w="0">
            <a:noFill/>
            <a:prstDash val="solid"/>
          </a:ln>
        </p:spPr>
        <p:txBody>
          <a:bodyPr anchor="t">
            <a:normAutofit/>
          </a:bodyPr>
          <a:lstStyle/>
          <a:p>
            <a:pPr algn="l">
              <a:defRPr sz="2925" b="1">
                <a:solidFill>
                  <a:srgbClr val="0B1220"/>
                </a:solidFill>
                <a:latin typeface="Arial"/>
                <a:ea typeface="Arial"/>
                <a:cs typeface="Arial"/>
              </a:defRPr>
            </a:pPr>
            <a:r>
              <a:rPr sz="2925" b="1">
                <a:solidFill>
                  <a:srgbClr val="0B1220"/>
                </a:solidFill>
                <a:latin typeface="Arial"/>
                <a:ea typeface="Arial"/>
                <a:cs typeface="Arial"/>
              </a:rPr>
              <a:t>The first completed task decides the outcome</a:t>
            </a:r>
          </a:p>
        </p:txBody>
      </p:sp>
      <p:sp>
        <p:nvSpPr>
          <p:cNvPr id="3" name="Rectangle 2">
            <a:extLst>
              <a:ext uri="{FF2B5EF4-FFF2-40B4-BE49-F238E27FC236}">
                <a16:creationId xmlns:a16="http://schemas.microsoft.com/office/drawing/2014/main" id="{1DD0CBA8-C99C-4098-BE8E-DAA84240FC46}"/>
              </a:ext>
            </a:extLst>
          </p:cNvPr>
          <p:cNvSpPr>
            <a:spLocks noGrp="1"/>
          </p:cNvSpPr>
          <p:nvPr/>
        </p:nvSpPr>
        <p:spPr>
          <a:xfrm>
            <a:off x="533400" y="1409700"/>
            <a:ext cx="11125200" cy="19050"/>
          </a:xfrm>
          <a:prstGeom prst="rect">
            <a:avLst/>
          </a:prstGeom>
          <a:solidFill>
            <a:srgbClr val="B8BCC4"/>
          </a:solidFill>
          <a:ln w="0">
            <a:solidFill>
              <a:srgbClr val="B8BCC4"/>
            </a:solidFill>
            <a:prstDash val="solid"/>
          </a:ln>
        </p:spPr>
        <p:txBody>
          <a:bodyPr/>
          <a:lstStyle/>
          <a:p>
            <a:endParaRPr lang="zh-CN" altLang="en-US"/>
          </a:p>
        </p:txBody>
      </p:sp>
      <p:sp>
        <p:nvSpPr>
          <p:cNvPr id="4" name="Rectangle 3">
            <a:extLst>
              <a:ext uri="{FF2B5EF4-FFF2-40B4-BE49-F238E27FC236}">
                <a16:creationId xmlns:a16="http://schemas.microsoft.com/office/drawing/2014/main" id="{0C43774D-E9B3-42E1-A0B7-23CE5D89BBE2}"/>
              </a:ext>
            </a:extLst>
          </p:cNvPr>
          <p:cNvSpPr>
            <a:spLocks noGrp="1"/>
          </p:cNvSpPr>
          <p:nvPr/>
        </p:nvSpPr>
        <p:spPr>
          <a:xfrm>
            <a:off x="11191875" y="6419850"/>
            <a:ext cx="457200" cy="190500"/>
          </a:xfrm>
          <a:prstGeom prst="rect">
            <a:avLst/>
          </a:prstGeom>
          <a:noFill/>
          <a:ln w="0">
            <a:noFill/>
            <a:prstDash val="solid"/>
          </a:ln>
        </p:spPr>
        <p:txBody>
          <a:bodyPr anchor="t">
            <a:normAutofit fontScale="79722" lnSpcReduction="10000"/>
          </a:bodyPr>
          <a:lstStyle/>
          <a:p>
            <a:pPr algn="r">
              <a:defRPr sz="900" b="0">
                <a:solidFill>
                  <a:srgbClr val="4B5563"/>
                </a:solidFill>
                <a:latin typeface="Arial"/>
                <a:ea typeface="Arial"/>
                <a:cs typeface="Arial"/>
              </a:defRPr>
            </a:pPr>
            <a:r>
              <a:rPr sz="900" b="0">
                <a:solidFill>
                  <a:srgbClr val="4B5563"/>
                </a:solidFill>
                <a:latin typeface="Arial"/>
                <a:ea typeface="Arial"/>
                <a:cs typeface="Arial"/>
              </a:rPr>
              <a:t>04</a:t>
            </a:r>
          </a:p>
        </p:txBody>
      </p:sp>
      <p:sp>
        <p:nvSpPr>
          <p:cNvPr id="5" name="Rectangle 4">
            <a:extLst>
              <a:ext uri="{FF2B5EF4-FFF2-40B4-BE49-F238E27FC236}">
                <a16:creationId xmlns:a16="http://schemas.microsoft.com/office/drawing/2014/main" id="{9CF80E95-B1E6-4F9F-BCEE-A26E1CA7BF1B}"/>
              </a:ext>
            </a:extLst>
          </p:cNvPr>
          <p:cNvSpPr>
            <a:spLocks noGrp="1"/>
          </p:cNvSpPr>
          <p:nvPr/>
        </p:nvSpPr>
        <p:spPr>
          <a:xfrm>
            <a:off x="762000" y="1952625"/>
            <a:ext cx="2857500" cy="342900"/>
          </a:xfrm>
          <a:prstGeom prst="rect">
            <a:avLst/>
          </a:prstGeom>
          <a:noFill/>
          <a:ln w="0">
            <a:noFill/>
            <a:prstDash val="solid"/>
          </a:ln>
        </p:spPr>
        <p:txBody>
          <a:bodyPr anchor="t">
            <a:normAutofit fontScale="86071" lnSpcReduction="10000"/>
          </a:bodyPr>
          <a:lstStyle/>
          <a:p>
            <a:pPr algn="l">
              <a:defRPr sz="2100" b="1">
                <a:solidFill>
                  <a:srgbClr val="2E9D62"/>
                </a:solidFill>
                <a:latin typeface="Arial"/>
                <a:ea typeface="Arial"/>
                <a:cs typeface="Arial"/>
              </a:defRPr>
            </a:pPr>
            <a:r>
              <a:rPr sz="2100" b="1">
                <a:solidFill>
                  <a:srgbClr val="2E9D62"/>
                </a:solidFill>
                <a:latin typeface="Arial"/>
                <a:ea typeface="Arial"/>
                <a:cs typeface="Arial"/>
              </a:rPr>
              <a:t>Manager event</a:t>
            </a:r>
          </a:p>
        </p:txBody>
      </p:sp>
      <p:sp>
        <p:nvSpPr>
          <p:cNvPr id="6" name="Rectangle 5">
            <a:extLst>
              <a:ext uri="{FF2B5EF4-FFF2-40B4-BE49-F238E27FC236}">
                <a16:creationId xmlns:a16="http://schemas.microsoft.com/office/drawing/2014/main" id="{A6D9FA2D-BA78-4D94-BC6A-B4F7DA5B96AC}"/>
              </a:ext>
            </a:extLst>
          </p:cNvPr>
          <p:cNvSpPr>
            <a:spLocks noGrp="1"/>
          </p:cNvSpPr>
          <p:nvPr/>
        </p:nvSpPr>
        <p:spPr>
          <a:xfrm>
            <a:off x="762000" y="2476500"/>
            <a:ext cx="4476750" cy="1714500"/>
          </a:xfrm>
          <a:prstGeom prst="rect">
            <a:avLst/>
          </a:prstGeom>
          <a:noFill/>
          <a:ln w="0">
            <a:noFill/>
            <a:prstDash val="solid"/>
          </a:ln>
        </p:spPr>
        <p:txBody>
          <a:bodyPr anchor="t">
            <a:normAutofit/>
          </a:bodyPr>
          <a:lstStyle/>
          <a:p>
            <a:pPr algn="l">
              <a:defRPr sz="1575" b="0">
                <a:solidFill>
                  <a:srgbClr val="4B5563"/>
                </a:solidFill>
                <a:latin typeface="Arial"/>
                <a:ea typeface="Arial"/>
                <a:cs typeface="Arial"/>
              </a:defRPr>
            </a:pPr>
            <a:r>
              <a:rPr sz="1575" b="0">
                <a:solidFill>
                  <a:srgbClr val="4B5563"/>
                </a:solidFill>
                <a:latin typeface="Arial"/>
                <a:ea typeface="Arial"/>
                <a:cs typeface="Arial"/>
              </a:rPr>
              <a:t>wait_for_external_event(</a:t>
            </a:r>
          </a:p>
          <a:p>
            <a:pPr algn="l">
              <a:defRPr sz="1575" b="0">
                <a:solidFill>
                  <a:srgbClr val="4B5563"/>
                </a:solidFill>
                <a:latin typeface="Arial"/>
                <a:ea typeface="Arial"/>
                <a:cs typeface="Arial"/>
              </a:defRPr>
            </a:pPr>
            <a:r>
              <a:rPr sz="1575" b="0">
                <a:solidFill>
                  <a:srgbClr val="4B5563"/>
                </a:solidFill>
                <a:latin typeface="Arial"/>
                <a:ea typeface="Arial"/>
                <a:cs typeface="Arial"/>
              </a:rPr>
              <a:t>  "ManagerDecision")</a:t>
            </a:r>
          </a:p>
          <a:p>
            <a:endParaRPr sz="1575" b="0">
              <a:solidFill>
                <a:srgbClr val="4B5563"/>
              </a:solidFill>
              <a:latin typeface="Arial"/>
              <a:ea typeface="Arial"/>
              <a:cs typeface="Arial"/>
            </a:endParaRPr>
          </a:p>
          <a:p>
            <a:pPr algn="l">
              <a:defRPr sz="1575" b="0">
                <a:solidFill>
                  <a:srgbClr val="4B5563"/>
                </a:solidFill>
                <a:latin typeface="Arial"/>
                <a:ea typeface="Arial"/>
                <a:cs typeface="Arial"/>
              </a:defRPr>
            </a:pPr>
            <a:r>
              <a:rPr sz="1575" b="0">
                <a:solidFill>
                  <a:srgbClr val="4B5563"/>
                </a:solidFill>
                <a:latin typeface="Arial"/>
                <a:ea typeface="Arial"/>
                <a:cs typeface="Arial"/>
              </a:rPr>
              <a:t>Approve → approved</a:t>
            </a:r>
          </a:p>
          <a:p>
            <a:pPr algn="l">
              <a:defRPr sz="1575" b="0">
                <a:solidFill>
                  <a:srgbClr val="4B5563"/>
                </a:solidFill>
                <a:latin typeface="Arial"/>
                <a:ea typeface="Arial"/>
                <a:cs typeface="Arial"/>
              </a:defRPr>
            </a:pPr>
            <a:r>
              <a:rPr sz="1575" b="0">
                <a:solidFill>
                  <a:srgbClr val="4B5563"/>
                </a:solidFill>
                <a:latin typeface="Arial"/>
                <a:ea typeface="Arial"/>
                <a:cs typeface="Arial"/>
              </a:rPr>
              <a:t>Reject → rejected</a:t>
            </a:r>
          </a:p>
        </p:txBody>
      </p:sp>
      <p:sp>
        <p:nvSpPr>
          <p:cNvPr id="7" name="Rectangle 6">
            <a:extLst>
              <a:ext uri="{FF2B5EF4-FFF2-40B4-BE49-F238E27FC236}">
                <a16:creationId xmlns:a16="http://schemas.microsoft.com/office/drawing/2014/main" id="{EA6243A8-15EF-4BFE-9C9B-135A143B3279}"/>
              </a:ext>
            </a:extLst>
          </p:cNvPr>
          <p:cNvSpPr>
            <a:spLocks noGrp="1"/>
          </p:cNvSpPr>
          <p:nvPr/>
        </p:nvSpPr>
        <p:spPr>
          <a:xfrm>
            <a:off x="6858000" y="1952625"/>
            <a:ext cx="2857500" cy="342900"/>
          </a:xfrm>
          <a:prstGeom prst="rect">
            <a:avLst/>
          </a:prstGeom>
          <a:noFill/>
          <a:ln w="0">
            <a:noFill/>
            <a:prstDash val="solid"/>
          </a:ln>
        </p:spPr>
        <p:txBody>
          <a:bodyPr anchor="t">
            <a:normAutofit fontScale="86071" lnSpcReduction="10000"/>
          </a:bodyPr>
          <a:lstStyle/>
          <a:p>
            <a:pPr algn="l">
              <a:defRPr sz="2100" b="1">
                <a:solidFill>
                  <a:srgbClr val="C47A00"/>
                </a:solidFill>
                <a:latin typeface="Arial"/>
                <a:ea typeface="Arial"/>
                <a:cs typeface="Arial"/>
              </a:defRPr>
            </a:pPr>
            <a:r>
              <a:rPr sz="2100" b="1">
                <a:solidFill>
                  <a:srgbClr val="C47A00"/>
                </a:solidFill>
                <a:latin typeface="Arial"/>
                <a:ea typeface="Arial"/>
                <a:cs typeface="Arial"/>
              </a:rPr>
              <a:t>Durable timer</a:t>
            </a:r>
          </a:p>
        </p:txBody>
      </p:sp>
      <p:sp>
        <p:nvSpPr>
          <p:cNvPr id="8" name="Rectangle 7">
            <a:extLst>
              <a:ext uri="{FF2B5EF4-FFF2-40B4-BE49-F238E27FC236}">
                <a16:creationId xmlns:a16="http://schemas.microsoft.com/office/drawing/2014/main" id="{306D2247-76E0-4516-BD3D-3B9CE32C44A5}"/>
              </a:ext>
            </a:extLst>
          </p:cNvPr>
          <p:cNvSpPr>
            <a:spLocks noGrp="1"/>
          </p:cNvSpPr>
          <p:nvPr/>
        </p:nvSpPr>
        <p:spPr>
          <a:xfrm>
            <a:off x="6858000" y="2476500"/>
            <a:ext cx="4476750" cy="1714500"/>
          </a:xfrm>
          <a:prstGeom prst="rect">
            <a:avLst/>
          </a:prstGeom>
          <a:noFill/>
          <a:ln w="0">
            <a:noFill/>
            <a:prstDash val="solid"/>
          </a:ln>
        </p:spPr>
        <p:txBody>
          <a:bodyPr anchor="t">
            <a:normAutofit/>
          </a:bodyPr>
          <a:lstStyle/>
          <a:p>
            <a:pPr algn="l">
              <a:defRPr sz="1725" b="0">
                <a:solidFill>
                  <a:srgbClr val="4B5563"/>
                </a:solidFill>
                <a:latin typeface="Arial"/>
                <a:ea typeface="Arial"/>
                <a:cs typeface="Arial"/>
              </a:defRPr>
            </a:pPr>
            <a:r>
              <a:rPr sz="1725" b="0">
                <a:solidFill>
                  <a:srgbClr val="4B5563"/>
                </a:solidFill>
                <a:latin typeface="Arial"/>
                <a:ea typeface="Arial"/>
                <a:cs typeface="Arial"/>
              </a:rPr>
              <a:t>create_timer(deadline)</a:t>
            </a:r>
          </a:p>
          <a:p>
            <a:endParaRPr sz="1725" b="0">
              <a:solidFill>
                <a:srgbClr val="4B5563"/>
              </a:solidFill>
              <a:latin typeface="Arial"/>
              <a:ea typeface="Arial"/>
              <a:cs typeface="Arial"/>
            </a:endParaRPr>
          </a:p>
          <a:p>
            <a:pPr algn="l">
              <a:defRPr sz="1725" b="0">
                <a:solidFill>
                  <a:srgbClr val="4B5563"/>
                </a:solidFill>
                <a:latin typeface="Arial"/>
                <a:ea typeface="Arial"/>
                <a:cs typeface="Arial"/>
              </a:defRPr>
            </a:pPr>
            <a:r>
              <a:rPr sz="1725" b="0">
                <a:solidFill>
                  <a:srgbClr val="4B5563"/>
                </a:solidFill>
                <a:latin typeface="Arial"/>
                <a:ea typeface="Arial"/>
                <a:cs typeface="Arial"/>
              </a:rPr>
              <a:t>No response before deadline</a:t>
            </a:r>
          </a:p>
          <a:p>
            <a:pPr algn="l">
              <a:defRPr sz="1725" b="0">
                <a:solidFill>
                  <a:srgbClr val="4B5563"/>
                </a:solidFill>
                <a:latin typeface="Arial"/>
                <a:ea typeface="Arial"/>
                <a:cs typeface="Arial"/>
              </a:defRPr>
            </a:pPr>
            <a:r>
              <a:rPr sz="1725" b="0">
                <a:solidFill>
                  <a:srgbClr val="4B5563"/>
                </a:solidFill>
                <a:latin typeface="Arial"/>
                <a:ea typeface="Arial"/>
                <a:cs typeface="Arial"/>
              </a:rPr>
              <a:t>→ auto-approved + escalated</a:t>
            </a:r>
          </a:p>
        </p:txBody>
      </p:sp>
      <p:sp>
        <p:nvSpPr>
          <p:cNvPr id="9" name="Rectangle: Rounded Corners 8">
            <a:extLst>
              <a:ext uri="{FF2B5EF4-FFF2-40B4-BE49-F238E27FC236}">
                <a16:creationId xmlns:a16="http://schemas.microsoft.com/office/drawing/2014/main" id="{7A54CD73-19AF-4E90-B1E9-3C56FD3229DE}"/>
              </a:ext>
            </a:extLst>
          </p:cNvPr>
          <p:cNvSpPr>
            <a:spLocks noGrp="1"/>
          </p:cNvSpPr>
          <p:nvPr/>
        </p:nvSpPr>
        <p:spPr>
          <a:xfrm>
            <a:off x="857250" y="4762500"/>
            <a:ext cx="2000250" cy="723900"/>
          </a:xfrm>
          <a:prstGeom prst="roundRect">
            <a:avLst>
              <a:gd name="adj" fmla="val 10526"/>
            </a:avLst>
          </a:prstGeom>
          <a:solidFill>
            <a:srgbClr val="DCF4E7"/>
          </a:solidFill>
          <a:ln w="11430">
            <a:solidFill>
              <a:srgbClr val="2E9D62"/>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External event</a:t>
            </a:r>
          </a:p>
        </p:txBody>
      </p:sp>
      <p:sp>
        <p:nvSpPr>
          <p:cNvPr id="10" name="Rectangle: Rounded Corners 9">
            <a:extLst>
              <a:ext uri="{FF2B5EF4-FFF2-40B4-BE49-F238E27FC236}">
                <a16:creationId xmlns:a16="http://schemas.microsoft.com/office/drawing/2014/main" id="{E6CCDE68-6C5C-40C7-B87B-2621E2E29F1C}"/>
              </a:ext>
            </a:extLst>
          </p:cNvPr>
          <p:cNvSpPr>
            <a:spLocks noGrp="1"/>
          </p:cNvSpPr>
          <p:nvPr/>
        </p:nvSpPr>
        <p:spPr>
          <a:xfrm>
            <a:off x="3333750" y="4762500"/>
            <a:ext cx="1619250" cy="723900"/>
          </a:xfrm>
          <a:prstGeom prst="roundRect">
            <a:avLst>
              <a:gd name="adj" fmla="val 10526"/>
            </a:avLst>
          </a:prstGeom>
          <a:solidFill>
            <a:srgbClr val="FFF1D6"/>
          </a:solidFill>
          <a:ln w="11430">
            <a:solidFill>
              <a:srgbClr val="C47A00"/>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Timer</a:t>
            </a:r>
          </a:p>
        </p:txBody>
      </p:sp>
      <p:sp>
        <p:nvSpPr>
          <p:cNvPr id="11" name="Rectangle: Rounded Corners 10">
            <a:extLst>
              <a:ext uri="{FF2B5EF4-FFF2-40B4-BE49-F238E27FC236}">
                <a16:creationId xmlns:a16="http://schemas.microsoft.com/office/drawing/2014/main" id="{89044859-B958-497C-955E-62B21F38B36D}"/>
              </a:ext>
            </a:extLst>
          </p:cNvPr>
          <p:cNvSpPr>
            <a:spLocks noGrp="1"/>
          </p:cNvSpPr>
          <p:nvPr/>
        </p:nvSpPr>
        <p:spPr>
          <a:xfrm>
            <a:off x="5524500" y="4762500"/>
            <a:ext cx="1714500" cy="723900"/>
          </a:xfrm>
          <a:prstGeom prst="roundRect">
            <a:avLst>
              <a:gd name="adj" fmla="val 10526"/>
            </a:avLst>
          </a:prstGeom>
          <a:solidFill>
            <a:srgbClr val="DCEEFF"/>
          </a:solidFill>
          <a:ln w="11430">
            <a:solidFill>
              <a:srgbClr val="2F80ED"/>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task_any</a:t>
            </a:r>
          </a:p>
        </p:txBody>
      </p:sp>
      <p:sp>
        <p:nvSpPr>
          <p:cNvPr id="12" name="Rectangle: Rounded Corners 11">
            <a:extLst>
              <a:ext uri="{FF2B5EF4-FFF2-40B4-BE49-F238E27FC236}">
                <a16:creationId xmlns:a16="http://schemas.microsoft.com/office/drawing/2014/main" id="{C2EE899D-3EAC-4A3F-9227-727063603508}"/>
              </a:ext>
            </a:extLst>
          </p:cNvPr>
          <p:cNvSpPr>
            <a:spLocks noGrp="1"/>
          </p:cNvSpPr>
          <p:nvPr/>
        </p:nvSpPr>
        <p:spPr>
          <a:xfrm>
            <a:off x="7905750" y="4762500"/>
            <a:ext cx="2667000" cy="723900"/>
          </a:xfrm>
          <a:prstGeom prst="roundRect">
            <a:avLst>
              <a:gd name="adj" fmla="val 10526"/>
            </a:avLst>
          </a:prstGeom>
          <a:solidFill>
            <a:srgbClr val="EEF2F6"/>
          </a:solidFill>
          <a:ln w="11430">
            <a:solidFill>
              <a:srgbClr val="B8BCC4"/>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One final outcome</a:t>
            </a:r>
          </a:p>
        </p:txBody>
      </p:sp>
      <p:cxnSp>
        <p:nvCxnSpPr>
          <p:cNvPr id="28" name="Connector: Elbow 27"/>
          <p:cNvCxnSpPr>
            <a:stCxn id="9" idx="3"/>
            <a:endCxn id="11" idx="1"/>
          </p:cNvCxnSpPr>
          <p:nvPr/>
        </p:nvCxnSpPr>
        <p:spPr>
          <a:xfrm>
            <a:off x="2857500" y="4648200"/>
            <a:ext cx="2667000" cy="476250"/>
          </a:xfrm>
          <a:prstGeom prst="bentConnector4">
            <a:avLst/>
          </a:prstGeom>
          <a:ln w="19050">
            <a:solidFill>
              <a:srgbClr val="4B5563"/>
            </a:solidFill>
            <a:prstDash val="solid"/>
            <a:tailEnd type="arrow" w="med" len="med"/>
          </a:ln>
        </p:spPr>
      </p:cxnSp>
      <p:cxnSp>
        <p:nvCxnSpPr>
          <p:cNvPr id="29" name="Straight Arrow Connector 28"/>
          <p:cNvCxnSpPr>
            <a:stCxn id="10" idx="3"/>
            <a:endCxn id="11" idx="1"/>
          </p:cNvCxnSpPr>
          <p:nvPr/>
        </p:nvCxnSpPr>
        <p:spPr>
          <a:xfrm>
            <a:off x="4953000" y="5124450"/>
            <a:ext cx="571500" cy="0"/>
          </a:xfrm>
          <a:prstGeom prst="straightConnector1">
            <a:avLst/>
          </a:prstGeom>
          <a:ln w="19050">
            <a:solidFill>
              <a:srgbClr val="4B5563"/>
            </a:solidFill>
            <a:prstDash val="solid"/>
            <a:tailEnd type="arrow" w="med" len="med"/>
          </a:ln>
        </p:spPr>
      </p:cxnSp>
      <p:cxnSp>
        <p:nvCxnSpPr>
          <p:cNvPr id="30" name="Straight Arrow Connector 29"/>
          <p:cNvCxnSpPr>
            <a:stCxn id="11" idx="3"/>
            <a:endCxn id="12" idx="1"/>
          </p:cNvCxnSpPr>
          <p:nvPr/>
        </p:nvCxnSpPr>
        <p:spPr>
          <a:xfrm>
            <a:off x="7239000" y="5124450"/>
            <a:ext cx="666750" cy="0"/>
          </a:xfrm>
          <a:prstGeom prst="straightConnector1">
            <a:avLst/>
          </a:prstGeom>
          <a:ln w="19050">
            <a:solidFill>
              <a:srgbClr val="4B5563"/>
            </a:solidFill>
            <a:prstDash val="solid"/>
            <a:tailEnd type="arrow" w="med" len="med"/>
          </a:ln>
        </p:spPr>
      </p:cxnSp>
    </p:spTree>
    <p:extLst>
      <p:ext uri="{BB962C8B-B14F-4D97-AF65-F5344CB8AC3E}">
        <p14:creationId xmlns:p14="http://schemas.microsoft.com/office/powerpoint/2010/main" val="1915978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8F0B4DC-7EE0-4A9C-BF8E-0B65C64FD415}"/>
              </a:ext>
            </a:extLst>
          </p:cNvPr>
          <p:cNvSpPr>
            <a:spLocks noGrp="1"/>
          </p:cNvSpPr>
          <p:nvPr/>
        </p:nvSpPr>
        <p:spPr>
          <a:xfrm>
            <a:off x="533400" y="323850"/>
            <a:ext cx="3143250" cy="266700"/>
          </a:xfrm>
          <a:prstGeom prst="rect">
            <a:avLst/>
          </a:prstGeom>
          <a:noFill/>
          <a:ln w="0">
            <a:noFill/>
            <a:prstDash val="solid"/>
          </a:ln>
        </p:spPr>
        <p:txBody>
          <a:bodyPr anchor="t">
            <a:normAutofit/>
          </a:bodyPr>
          <a:lstStyle/>
          <a:p>
            <a:pPr>
              <a:defRPr sz="1125" b="1">
                <a:solidFill>
                  <a:srgbClr val="2F80ED"/>
                </a:solidFill>
                <a:latin typeface="Arial"/>
                <a:ea typeface="Arial"/>
                <a:cs typeface="Arial"/>
              </a:defRPr>
            </a:pPr>
            <a:r>
              <a:rPr lang="zh-CN" altLang="zh-CN" sz="1125" b="1" dirty="0"/>
              <a:t>TEST EVIDENCE</a:t>
            </a:r>
            <a:endParaRPr sz="1125" b="1" dirty="0">
              <a:solidFill>
                <a:srgbClr val="2F80ED"/>
              </a:solidFill>
              <a:latin typeface="Arial"/>
              <a:ea typeface="Arial"/>
              <a:cs typeface="Arial"/>
            </a:endParaRPr>
          </a:p>
        </p:txBody>
      </p:sp>
      <p:sp>
        <p:nvSpPr>
          <p:cNvPr id="2" name="slide-5-title">
            <a:extLst>
              <a:ext uri="{FF2B5EF4-FFF2-40B4-BE49-F238E27FC236}">
                <a16:creationId xmlns:a16="http://schemas.microsoft.com/office/drawing/2014/main" id="{C9B9E684-3A31-490A-A540-818E9CD95BC5}"/>
              </a:ext>
            </a:extLst>
          </p:cNvPr>
          <p:cNvSpPr>
            <a:spLocks noGrp="1"/>
          </p:cNvSpPr>
          <p:nvPr/>
        </p:nvSpPr>
        <p:spPr>
          <a:xfrm>
            <a:off x="533400" y="628650"/>
            <a:ext cx="10763250" cy="742950"/>
          </a:xfrm>
          <a:prstGeom prst="rect">
            <a:avLst/>
          </a:prstGeom>
          <a:noFill/>
          <a:ln w="0">
            <a:noFill/>
            <a:prstDash val="solid"/>
          </a:ln>
        </p:spPr>
        <p:txBody>
          <a:bodyPr anchor="t">
            <a:normAutofit/>
          </a:bodyPr>
          <a:lstStyle/>
          <a:p>
            <a:pPr algn="l">
              <a:defRPr sz="2925" b="1">
                <a:solidFill>
                  <a:srgbClr val="0B1220"/>
                </a:solidFill>
                <a:latin typeface="Arial"/>
                <a:ea typeface="Arial"/>
                <a:cs typeface="Arial"/>
              </a:defRPr>
            </a:pPr>
            <a:r>
              <a:rPr sz="2925" b="1">
                <a:solidFill>
                  <a:srgbClr val="0B1220"/>
                </a:solidFill>
                <a:latin typeface="Arial"/>
                <a:ea typeface="Arial"/>
                <a:cs typeface="Arial"/>
              </a:rPr>
              <a:t>Version A proves all six paths with repeatable HTTP tests</a:t>
            </a:r>
          </a:p>
        </p:txBody>
      </p:sp>
      <p:sp>
        <p:nvSpPr>
          <p:cNvPr id="3" name="Rectangle 2">
            <a:extLst>
              <a:ext uri="{FF2B5EF4-FFF2-40B4-BE49-F238E27FC236}">
                <a16:creationId xmlns:a16="http://schemas.microsoft.com/office/drawing/2014/main" id="{25A98E47-29F4-4E9D-BE26-B4F3834BE9F7}"/>
              </a:ext>
            </a:extLst>
          </p:cNvPr>
          <p:cNvSpPr>
            <a:spLocks noGrp="1"/>
          </p:cNvSpPr>
          <p:nvPr/>
        </p:nvSpPr>
        <p:spPr>
          <a:xfrm>
            <a:off x="533400" y="1409700"/>
            <a:ext cx="11125200" cy="19050"/>
          </a:xfrm>
          <a:prstGeom prst="rect">
            <a:avLst/>
          </a:prstGeom>
          <a:solidFill>
            <a:srgbClr val="B8BCC4"/>
          </a:solidFill>
          <a:ln w="0">
            <a:solidFill>
              <a:srgbClr val="B8BCC4"/>
            </a:solidFill>
            <a:prstDash val="solid"/>
          </a:ln>
        </p:spPr>
        <p:txBody>
          <a:bodyPr/>
          <a:lstStyle/>
          <a:p>
            <a:endParaRPr lang="zh-CN" altLang="en-US"/>
          </a:p>
        </p:txBody>
      </p:sp>
      <p:sp>
        <p:nvSpPr>
          <p:cNvPr id="4" name="Rectangle 3">
            <a:extLst>
              <a:ext uri="{FF2B5EF4-FFF2-40B4-BE49-F238E27FC236}">
                <a16:creationId xmlns:a16="http://schemas.microsoft.com/office/drawing/2014/main" id="{D3929CC0-0D22-4FD4-88D1-A39591A66173}"/>
              </a:ext>
            </a:extLst>
          </p:cNvPr>
          <p:cNvSpPr>
            <a:spLocks noGrp="1"/>
          </p:cNvSpPr>
          <p:nvPr/>
        </p:nvSpPr>
        <p:spPr>
          <a:xfrm>
            <a:off x="11191875" y="6419850"/>
            <a:ext cx="457200" cy="190500"/>
          </a:xfrm>
          <a:prstGeom prst="rect">
            <a:avLst/>
          </a:prstGeom>
          <a:noFill/>
          <a:ln w="0">
            <a:noFill/>
            <a:prstDash val="solid"/>
          </a:ln>
        </p:spPr>
        <p:txBody>
          <a:bodyPr anchor="t">
            <a:normAutofit fontScale="87222" lnSpcReduction="20000"/>
          </a:bodyPr>
          <a:lstStyle/>
          <a:p>
            <a:pPr algn="r">
              <a:defRPr sz="900" b="0">
                <a:solidFill>
                  <a:srgbClr val="4B5563"/>
                </a:solidFill>
                <a:latin typeface="Arial"/>
                <a:ea typeface="Arial"/>
                <a:cs typeface="Arial"/>
              </a:defRPr>
            </a:pPr>
            <a:r>
              <a:rPr sz="900" b="0">
                <a:solidFill>
                  <a:srgbClr val="4B5563"/>
                </a:solidFill>
                <a:latin typeface="Arial"/>
                <a:ea typeface="Arial"/>
                <a:cs typeface="Arial"/>
              </a:rPr>
              <a:t>05</a:t>
            </a:r>
          </a:p>
        </p:txBody>
      </p:sp>
      <p:sp>
        <p:nvSpPr>
          <p:cNvPr id="6" name="Rectangle 5">
            <a:extLst>
              <a:ext uri="{FF2B5EF4-FFF2-40B4-BE49-F238E27FC236}">
                <a16:creationId xmlns:a16="http://schemas.microsoft.com/office/drawing/2014/main" id="{17B98A36-2940-4C67-9DBF-BEA28ECAFA2A}"/>
              </a:ext>
            </a:extLst>
          </p:cNvPr>
          <p:cNvSpPr>
            <a:spLocks noGrp="1"/>
          </p:cNvSpPr>
          <p:nvPr/>
        </p:nvSpPr>
        <p:spPr>
          <a:xfrm>
            <a:off x="8143875" y="1809750"/>
            <a:ext cx="3143250" cy="323850"/>
          </a:xfrm>
          <a:prstGeom prst="rect">
            <a:avLst/>
          </a:prstGeom>
          <a:noFill/>
          <a:ln w="0">
            <a:noFill/>
            <a:prstDash val="solid"/>
          </a:ln>
        </p:spPr>
        <p:txBody>
          <a:bodyPr anchor="t">
            <a:normAutofit fontScale="85705" lnSpcReduction="20000"/>
          </a:bodyPr>
          <a:lstStyle/>
          <a:p>
            <a:pPr>
              <a:defRPr sz="1950" b="1">
                <a:solidFill>
                  <a:srgbClr val="0B1220"/>
                </a:solidFill>
                <a:latin typeface="Arial"/>
                <a:ea typeface="Arial"/>
                <a:cs typeface="Arial"/>
              </a:defRPr>
            </a:pPr>
            <a:r>
              <a:rPr lang="en-US" sz="1950" b="1" dirty="0">
                <a:solidFill>
                  <a:srgbClr val="0B1220"/>
                </a:solidFill>
                <a:latin typeface="Arial"/>
                <a:ea typeface="Arial"/>
                <a:cs typeface="Arial"/>
              </a:rPr>
              <a:t>Evidence shown</a:t>
            </a:r>
            <a:endParaRPr sz="1950" b="1" dirty="0">
              <a:solidFill>
                <a:srgbClr val="0B1220"/>
              </a:solidFill>
              <a:latin typeface="Arial"/>
              <a:ea typeface="Arial"/>
              <a:cs typeface="Arial"/>
            </a:endParaRPr>
          </a:p>
        </p:txBody>
      </p:sp>
      <p:pic>
        <p:nvPicPr>
          <p:cNvPr id="10" name="Picture 9">
            <a:extLst>
              <a:ext uri="{FF2B5EF4-FFF2-40B4-BE49-F238E27FC236}">
                <a16:creationId xmlns:a16="http://schemas.microsoft.com/office/drawing/2014/main" id="{5C2BA25D-285B-1D8F-15C5-5D21AD7638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810" y="1845338"/>
            <a:ext cx="6767680" cy="3167324"/>
          </a:xfrm>
          <a:prstGeom prst="rect">
            <a:avLst/>
          </a:prstGeom>
        </p:spPr>
      </p:pic>
      <p:sp>
        <p:nvSpPr>
          <p:cNvPr id="12" name="Rectangle 11">
            <a:extLst>
              <a:ext uri="{FF2B5EF4-FFF2-40B4-BE49-F238E27FC236}">
                <a16:creationId xmlns:a16="http://schemas.microsoft.com/office/drawing/2014/main" id="{99236B4C-E60E-4B0E-8629-AE355FB00E7A}"/>
              </a:ext>
            </a:extLst>
          </p:cNvPr>
          <p:cNvSpPr>
            <a:spLocks noGrp="1"/>
          </p:cNvSpPr>
          <p:nvPr/>
        </p:nvSpPr>
        <p:spPr>
          <a:xfrm>
            <a:off x="7033845" y="2407417"/>
            <a:ext cx="4710270" cy="3333750"/>
          </a:xfrm>
          <a:prstGeom prst="rect">
            <a:avLst/>
          </a:prstGeom>
          <a:noFill/>
          <a:ln w="0">
            <a:noFill/>
            <a:prstDash val="solid"/>
          </a:ln>
        </p:spPr>
        <p:txBody>
          <a:bodyPr anchor="t">
            <a:normAutofit/>
          </a:bodyPr>
          <a:lstStyle/>
          <a:p>
            <a:pPr>
              <a:defRPr sz="1650" b="0">
                <a:solidFill>
                  <a:srgbClr val="4B5563"/>
                </a:solidFill>
                <a:latin typeface="Arial"/>
                <a:ea typeface="Arial"/>
                <a:cs typeface="Arial"/>
              </a:defRPr>
            </a:pPr>
            <a:r>
              <a:rPr lang="en-US" sz="1650" dirty="0">
                <a:solidFill>
                  <a:srgbClr val="4B5563"/>
                </a:solidFill>
                <a:latin typeface="Arial"/>
                <a:ea typeface="Arial"/>
                <a:cs typeface="Arial"/>
              </a:rPr>
              <a:t>1. Durable Functions host loaded six functions</a:t>
            </a:r>
          </a:p>
          <a:p>
            <a:pPr>
              <a:defRPr sz="1650" b="0">
                <a:solidFill>
                  <a:srgbClr val="4B5563"/>
                </a:solidFill>
                <a:latin typeface="Arial"/>
                <a:ea typeface="Arial"/>
                <a:cs typeface="Arial"/>
              </a:defRPr>
            </a:pPr>
            <a:r>
              <a:rPr lang="en-US" sz="1650" dirty="0">
                <a:solidFill>
                  <a:srgbClr val="4B5563"/>
                </a:solidFill>
                <a:latin typeface="Arial"/>
                <a:ea typeface="Arial"/>
                <a:cs typeface="Arial"/>
              </a:rPr>
              <a:t>2. Valid request completed successfully</a:t>
            </a:r>
          </a:p>
          <a:p>
            <a:pPr>
              <a:defRPr sz="1650" b="0">
                <a:solidFill>
                  <a:srgbClr val="4B5563"/>
                </a:solidFill>
                <a:latin typeface="Arial"/>
                <a:ea typeface="Arial"/>
                <a:cs typeface="Arial"/>
              </a:defRPr>
            </a:pPr>
            <a:r>
              <a:rPr lang="en-US" sz="1650" dirty="0">
                <a:solidFill>
                  <a:srgbClr val="4B5563"/>
                </a:solidFill>
                <a:latin typeface="Arial"/>
                <a:ea typeface="Arial"/>
                <a:cs typeface="Arial"/>
              </a:rPr>
              <a:t>3. Manager approval and rejection were tested</a:t>
            </a:r>
          </a:p>
          <a:p>
            <a:pPr>
              <a:defRPr sz="1650" b="0">
                <a:solidFill>
                  <a:srgbClr val="4B5563"/>
                </a:solidFill>
                <a:latin typeface="Arial"/>
                <a:ea typeface="Arial"/>
                <a:cs typeface="Arial"/>
              </a:defRPr>
            </a:pPr>
            <a:r>
              <a:rPr lang="en-US" sz="1650" dirty="0">
                <a:solidFill>
                  <a:srgbClr val="4B5563"/>
                </a:solidFill>
                <a:latin typeface="Arial"/>
                <a:ea typeface="Arial"/>
                <a:cs typeface="Arial"/>
              </a:rPr>
              <a:t>4. Timeout returned escalated</a:t>
            </a:r>
          </a:p>
          <a:p>
            <a:pPr>
              <a:defRPr sz="1650" b="0">
                <a:solidFill>
                  <a:srgbClr val="4B5563"/>
                </a:solidFill>
                <a:latin typeface="Arial"/>
                <a:ea typeface="Arial"/>
                <a:cs typeface="Arial"/>
              </a:defRPr>
            </a:pPr>
            <a:r>
              <a:rPr lang="en-US" sz="1650" dirty="0">
                <a:solidFill>
                  <a:srgbClr val="4B5563"/>
                </a:solidFill>
                <a:latin typeface="Arial"/>
                <a:ea typeface="Arial"/>
                <a:cs typeface="Arial"/>
              </a:rPr>
              <a:t>5. Missing fields and invalid category returned validation errors</a:t>
            </a:r>
          </a:p>
          <a:p>
            <a:pPr>
              <a:defRPr sz="1650" b="0">
                <a:solidFill>
                  <a:srgbClr val="4B5563"/>
                </a:solidFill>
                <a:latin typeface="Arial"/>
                <a:ea typeface="Arial"/>
                <a:cs typeface="Arial"/>
              </a:defRPr>
            </a:pPr>
            <a:r>
              <a:rPr lang="en-US" sz="1650" dirty="0">
                <a:solidFill>
                  <a:srgbClr val="4B5563"/>
                </a:solidFill>
                <a:latin typeface="Arial"/>
                <a:ea typeface="Arial"/>
                <a:cs typeface="Arial"/>
              </a:rPr>
              <a:t>6. Console notification logs were captured</a:t>
            </a:r>
            <a:endParaRPr sz="1650" b="0" dirty="0">
              <a:solidFill>
                <a:srgbClr val="4B5563"/>
              </a:solidFill>
              <a:latin typeface="Arial"/>
              <a:ea typeface="Arial"/>
              <a:cs typeface="Arial"/>
            </a:endParaRPr>
          </a:p>
        </p:txBody>
      </p:sp>
    </p:spTree>
    <p:extLst>
      <p:ext uri="{BB962C8B-B14F-4D97-AF65-F5344CB8AC3E}">
        <p14:creationId xmlns:p14="http://schemas.microsoft.com/office/powerpoint/2010/main" val="814612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2DF5775-5052-4014-93B4-E2ADEC59E653}"/>
              </a:ext>
            </a:extLst>
          </p:cNvPr>
          <p:cNvSpPr>
            <a:spLocks noGrp="1"/>
          </p:cNvSpPr>
          <p:nvPr/>
        </p:nvSpPr>
        <p:spPr>
          <a:xfrm>
            <a:off x="533400" y="323850"/>
            <a:ext cx="3143250" cy="266700"/>
          </a:xfrm>
          <a:prstGeom prst="rect">
            <a:avLst/>
          </a:prstGeom>
          <a:noFill/>
          <a:ln w="0">
            <a:noFill/>
            <a:prstDash val="solid"/>
          </a:ln>
        </p:spPr>
        <p:txBody>
          <a:bodyPr anchor="t">
            <a:normAutofit/>
          </a:bodyPr>
          <a:lstStyle/>
          <a:p>
            <a:pPr algn="l">
              <a:defRPr sz="1125" b="1">
                <a:solidFill>
                  <a:srgbClr val="2F80ED"/>
                </a:solidFill>
                <a:latin typeface="Arial"/>
                <a:ea typeface="Arial"/>
                <a:cs typeface="Arial"/>
              </a:defRPr>
            </a:pPr>
            <a:r>
              <a:rPr sz="1125" b="1">
                <a:solidFill>
                  <a:srgbClr val="2F80ED"/>
                </a:solidFill>
                <a:latin typeface="Arial"/>
                <a:ea typeface="Arial"/>
                <a:cs typeface="Arial"/>
              </a:rPr>
              <a:t>LOGIC APPS + SERVICE BUS</a:t>
            </a:r>
          </a:p>
        </p:txBody>
      </p:sp>
      <p:sp>
        <p:nvSpPr>
          <p:cNvPr id="2" name="slide-6-title">
            <a:extLst>
              <a:ext uri="{FF2B5EF4-FFF2-40B4-BE49-F238E27FC236}">
                <a16:creationId xmlns:a16="http://schemas.microsoft.com/office/drawing/2014/main" id="{CC919878-AD2A-4CE0-AD13-AD83166C1759}"/>
              </a:ext>
            </a:extLst>
          </p:cNvPr>
          <p:cNvSpPr>
            <a:spLocks noGrp="1"/>
          </p:cNvSpPr>
          <p:nvPr/>
        </p:nvSpPr>
        <p:spPr>
          <a:xfrm>
            <a:off x="533400" y="628650"/>
            <a:ext cx="10763250" cy="742950"/>
          </a:xfrm>
          <a:prstGeom prst="rect">
            <a:avLst/>
          </a:prstGeom>
          <a:noFill/>
          <a:ln w="0">
            <a:noFill/>
            <a:prstDash val="solid"/>
          </a:ln>
        </p:spPr>
        <p:txBody>
          <a:bodyPr anchor="t">
            <a:normAutofit/>
          </a:bodyPr>
          <a:lstStyle/>
          <a:p>
            <a:pPr algn="l">
              <a:defRPr sz="2925" b="1">
                <a:solidFill>
                  <a:srgbClr val="0B1220"/>
                </a:solidFill>
                <a:latin typeface="Arial"/>
                <a:ea typeface="Arial"/>
                <a:cs typeface="Arial"/>
              </a:defRPr>
            </a:pPr>
            <a:r>
              <a:rPr sz="2925" b="1">
                <a:solidFill>
                  <a:srgbClr val="0B1220"/>
                </a:solidFill>
                <a:latin typeface="Arial"/>
                <a:ea typeface="Arial"/>
                <a:cs typeface="Arial"/>
              </a:rPr>
              <a:t>Version B turns integration into a visible workflow</a:t>
            </a:r>
          </a:p>
        </p:txBody>
      </p:sp>
      <p:sp>
        <p:nvSpPr>
          <p:cNvPr id="3" name="Rectangle 2">
            <a:extLst>
              <a:ext uri="{FF2B5EF4-FFF2-40B4-BE49-F238E27FC236}">
                <a16:creationId xmlns:a16="http://schemas.microsoft.com/office/drawing/2014/main" id="{9A5070BC-3B21-454A-9BA2-0F504F17E794}"/>
              </a:ext>
            </a:extLst>
          </p:cNvPr>
          <p:cNvSpPr>
            <a:spLocks noGrp="1"/>
          </p:cNvSpPr>
          <p:nvPr/>
        </p:nvSpPr>
        <p:spPr>
          <a:xfrm>
            <a:off x="533400" y="1409700"/>
            <a:ext cx="11125200" cy="19050"/>
          </a:xfrm>
          <a:prstGeom prst="rect">
            <a:avLst/>
          </a:prstGeom>
          <a:solidFill>
            <a:srgbClr val="B8BCC4"/>
          </a:solidFill>
          <a:ln w="0">
            <a:solidFill>
              <a:srgbClr val="B8BCC4"/>
            </a:solidFill>
            <a:prstDash val="solid"/>
          </a:ln>
        </p:spPr>
        <p:txBody>
          <a:bodyPr/>
          <a:lstStyle/>
          <a:p>
            <a:endParaRPr lang="zh-CN" altLang="en-US"/>
          </a:p>
        </p:txBody>
      </p:sp>
      <p:sp>
        <p:nvSpPr>
          <p:cNvPr id="4" name="Rectangle 3">
            <a:extLst>
              <a:ext uri="{FF2B5EF4-FFF2-40B4-BE49-F238E27FC236}">
                <a16:creationId xmlns:a16="http://schemas.microsoft.com/office/drawing/2014/main" id="{D6B72159-08E5-491E-B8F8-D91947365636}"/>
              </a:ext>
            </a:extLst>
          </p:cNvPr>
          <p:cNvSpPr>
            <a:spLocks noGrp="1"/>
          </p:cNvSpPr>
          <p:nvPr/>
        </p:nvSpPr>
        <p:spPr>
          <a:xfrm>
            <a:off x="11191875" y="6419850"/>
            <a:ext cx="457200" cy="190500"/>
          </a:xfrm>
          <a:prstGeom prst="rect">
            <a:avLst/>
          </a:prstGeom>
          <a:noFill/>
          <a:ln w="0">
            <a:noFill/>
            <a:prstDash val="solid"/>
          </a:ln>
        </p:spPr>
        <p:txBody>
          <a:bodyPr anchor="t">
            <a:normAutofit fontScale="79722" lnSpcReduction="10000"/>
          </a:bodyPr>
          <a:lstStyle/>
          <a:p>
            <a:pPr algn="r">
              <a:defRPr sz="900" b="0">
                <a:solidFill>
                  <a:srgbClr val="4B5563"/>
                </a:solidFill>
                <a:latin typeface="Arial"/>
                <a:ea typeface="Arial"/>
                <a:cs typeface="Arial"/>
              </a:defRPr>
            </a:pPr>
            <a:r>
              <a:rPr sz="900" b="0">
                <a:solidFill>
                  <a:srgbClr val="4B5563"/>
                </a:solidFill>
                <a:latin typeface="Arial"/>
                <a:ea typeface="Arial"/>
                <a:cs typeface="Arial"/>
              </a:rPr>
              <a:t>06</a:t>
            </a:r>
          </a:p>
        </p:txBody>
      </p:sp>
      <p:sp>
        <p:nvSpPr>
          <p:cNvPr id="5" name="Rectangle: Rounded Corners 4">
            <a:extLst>
              <a:ext uri="{FF2B5EF4-FFF2-40B4-BE49-F238E27FC236}">
                <a16:creationId xmlns:a16="http://schemas.microsoft.com/office/drawing/2014/main" id="{2267BB82-EAC5-496F-B70B-C938667B3C95}"/>
              </a:ext>
            </a:extLst>
          </p:cNvPr>
          <p:cNvSpPr>
            <a:spLocks noGrp="1"/>
          </p:cNvSpPr>
          <p:nvPr/>
        </p:nvSpPr>
        <p:spPr>
          <a:xfrm>
            <a:off x="552450" y="2238375"/>
            <a:ext cx="1809750" cy="1000125"/>
          </a:xfrm>
          <a:prstGeom prst="roundRect">
            <a:avLst>
              <a:gd name="adj" fmla="val 7619"/>
            </a:avLst>
          </a:prstGeom>
          <a:solidFill>
            <a:srgbClr val="DCEEFF"/>
          </a:solidFill>
          <a:ln w="11430">
            <a:solidFill>
              <a:srgbClr val="B8BCC4"/>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Service Bus queue</a:t>
            </a:r>
          </a:p>
          <a:p>
            <a:pPr algn="ctr">
              <a:defRPr sz="1350" b="1">
                <a:solidFill>
                  <a:srgbClr val="0B1220"/>
                </a:solidFill>
                <a:latin typeface="Arial"/>
                <a:ea typeface="Arial"/>
                <a:cs typeface="Arial"/>
              </a:defRPr>
            </a:pPr>
            <a:r>
              <a:rPr sz="1350" b="1">
                <a:solidFill>
                  <a:srgbClr val="0B1220"/>
                </a:solidFill>
                <a:latin typeface="Arial"/>
                <a:ea typeface="Arial"/>
                <a:cs typeface="Arial"/>
              </a:rPr>
              <a:t>expense-requests</a:t>
            </a:r>
          </a:p>
        </p:txBody>
      </p:sp>
      <p:sp>
        <p:nvSpPr>
          <p:cNvPr id="6" name="Rectangle: Rounded Corners 5">
            <a:extLst>
              <a:ext uri="{FF2B5EF4-FFF2-40B4-BE49-F238E27FC236}">
                <a16:creationId xmlns:a16="http://schemas.microsoft.com/office/drawing/2014/main" id="{A30EF9FC-F858-427C-A041-CBFF34A2430F}"/>
              </a:ext>
            </a:extLst>
          </p:cNvPr>
          <p:cNvSpPr>
            <a:spLocks noGrp="1"/>
          </p:cNvSpPr>
          <p:nvPr/>
        </p:nvSpPr>
        <p:spPr>
          <a:xfrm>
            <a:off x="2857500" y="2047875"/>
            <a:ext cx="1952625" cy="1381125"/>
          </a:xfrm>
          <a:prstGeom prst="roundRect">
            <a:avLst>
              <a:gd name="adj" fmla="val 5517"/>
            </a:avLst>
          </a:prstGeom>
          <a:solidFill>
            <a:srgbClr val="DCEEFF"/>
          </a:solidFill>
          <a:ln w="11430">
            <a:solidFill>
              <a:srgbClr val="2F80ED"/>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Logic App</a:t>
            </a:r>
          </a:p>
          <a:p>
            <a:pPr algn="ctr">
              <a:defRPr sz="1350" b="1">
                <a:solidFill>
                  <a:srgbClr val="0B1220"/>
                </a:solidFill>
                <a:latin typeface="Arial"/>
                <a:ea typeface="Arial"/>
                <a:cs typeface="Arial"/>
              </a:defRPr>
            </a:pPr>
            <a:r>
              <a:rPr sz="1350" b="1">
                <a:solidFill>
                  <a:srgbClr val="0B1220"/>
                </a:solidFill>
                <a:latin typeface="Arial"/>
                <a:ea typeface="Arial"/>
                <a:cs typeface="Arial"/>
              </a:rPr>
              <a:t>visual orchestration</a:t>
            </a:r>
          </a:p>
        </p:txBody>
      </p:sp>
      <p:sp>
        <p:nvSpPr>
          <p:cNvPr id="7" name="Rectangle: Rounded Corners 6">
            <a:extLst>
              <a:ext uri="{FF2B5EF4-FFF2-40B4-BE49-F238E27FC236}">
                <a16:creationId xmlns:a16="http://schemas.microsoft.com/office/drawing/2014/main" id="{49A8C249-C5A0-4293-84B1-3E78FA2B3F1C}"/>
              </a:ext>
            </a:extLst>
          </p:cNvPr>
          <p:cNvSpPr>
            <a:spLocks noGrp="1"/>
          </p:cNvSpPr>
          <p:nvPr/>
        </p:nvSpPr>
        <p:spPr>
          <a:xfrm>
            <a:off x="5381625" y="1571625"/>
            <a:ext cx="1714500" cy="857250"/>
          </a:xfrm>
          <a:prstGeom prst="roundRect">
            <a:avLst>
              <a:gd name="adj" fmla="val 8889"/>
            </a:avLst>
          </a:prstGeom>
          <a:solidFill>
            <a:srgbClr val="EEF2F6"/>
          </a:solidFill>
          <a:ln w="11430">
            <a:solidFill>
              <a:srgbClr val="B8BCC4"/>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Azure Function</a:t>
            </a:r>
          </a:p>
          <a:p>
            <a:pPr algn="ctr">
              <a:defRPr sz="1350" b="1">
                <a:solidFill>
                  <a:srgbClr val="0B1220"/>
                </a:solidFill>
                <a:latin typeface="Arial"/>
                <a:ea typeface="Arial"/>
                <a:cs typeface="Arial"/>
              </a:defRPr>
            </a:pPr>
            <a:r>
              <a:rPr sz="1350" b="1">
                <a:solidFill>
                  <a:srgbClr val="0B1220"/>
                </a:solidFill>
                <a:latin typeface="Arial"/>
                <a:ea typeface="Arial"/>
                <a:cs typeface="Arial"/>
              </a:rPr>
              <a:t>validation</a:t>
            </a:r>
          </a:p>
        </p:txBody>
      </p:sp>
      <p:sp>
        <p:nvSpPr>
          <p:cNvPr id="8" name="Rectangle: Rounded Corners 7">
            <a:extLst>
              <a:ext uri="{FF2B5EF4-FFF2-40B4-BE49-F238E27FC236}">
                <a16:creationId xmlns:a16="http://schemas.microsoft.com/office/drawing/2014/main" id="{C130707A-31CD-4F7C-86FE-31C88DC98C1F}"/>
              </a:ext>
            </a:extLst>
          </p:cNvPr>
          <p:cNvSpPr>
            <a:spLocks noGrp="1"/>
          </p:cNvSpPr>
          <p:nvPr/>
        </p:nvSpPr>
        <p:spPr>
          <a:xfrm>
            <a:off x="5381625" y="3000375"/>
            <a:ext cx="1714500" cy="857250"/>
          </a:xfrm>
          <a:prstGeom prst="roundRect">
            <a:avLst>
              <a:gd name="adj" fmla="val 8889"/>
            </a:avLst>
          </a:prstGeom>
          <a:solidFill>
            <a:srgbClr val="FFF1D6"/>
          </a:solidFill>
          <a:ln w="11430">
            <a:solidFill>
              <a:srgbClr val="C47A00"/>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Outlook</a:t>
            </a:r>
          </a:p>
          <a:p>
            <a:pPr algn="ctr">
              <a:defRPr sz="1350" b="1">
                <a:solidFill>
                  <a:srgbClr val="0B1220"/>
                </a:solidFill>
                <a:latin typeface="Arial"/>
                <a:ea typeface="Arial"/>
                <a:cs typeface="Arial"/>
              </a:defRPr>
            </a:pPr>
            <a:r>
              <a:rPr sz="1350" b="1">
                <a:solidFill>
                  <a:srgbClr val="0B1220"/>
                </a:solidFill>
                <a:latin typeface="Arial"/>
                <a:ea typeface="Arial"/>
                <a:cs typeface="Arial"/>
              </a:rPr>
              <a:t>approval email</a:t>
            </a:r>
          </a:p>
        </p:txBody>
      </p:sp>
      <p:sp>
        <p:nvSpPr>
          <p:cNvPr id="9" name="Rectangle: Rounded Corners 8">
            <a:extLst>
              <a:ext uri="{FF2B5EF4-FFF2-40B4-BE49-F238E27FC236}">
                <a16:creationId xmlns:a16="http://schemas.microsoft.com/office/drawing/2014/main" id="{8038D355-7930-4FA4-8961-D7E9C5019369}"/>
              </a:ext>
            </a:extLst>
          </p:cNvPr>
          <p:cNvSpPr>
            <a:spLocks noGrp="1"/>
          </p:cNvSpPr>
          <p:nvPr/>
        </p:nvSpPr>
        <p:spPr>
          <a:xfrm>
            <a:off x="7715250" y="2190750"/>
            <a:ext cx="1809750" cy="1095375"/>
          </a:xfrm>
          <a:prstGeom prst="roundRect">
            <a:avLst>
              <a:gd name="adj" fmla="val 6957"/>
            </a:avLst>
          </a:prstGeom>
          <a:solidFill>
            <a:srgbClr val="EEF2F6"/>
          </a:solidFill>
          <a:ln w="11430">
            <a:solidFill>
              <a:srgbClr val="B8BCC4"/>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Service Bus topic</a:t>
            </a:r>
          </a:p>
          <a:p>
            <a:pPr algn="ctr">
              <a:defRPr sz="1350" b="1">
                <a:solidFill>
                  <a:srgbClr val="0B1220"/>
                </a:solidFill>
                <a:latin typeface="Arial"/>
                <a:ea typeface="Arial"/>
                <a:cs typeface="Arial"/>
              </a:defRPr>
            </a:pPr>
            <a:r>
              <a:rPr sz="1350" b="1">
                <a:solidFill>
                  <a:srgbClr val="0B1220"/>
                </a:solidFill>
                <a:latin typeface="Arial"/>
                <a:ea typeface="Arial"/>
                <a:cs typeface="Arial"/>
              </a:rPr>
              <a:t>expense-outcomes</a:t>
            </a:r>
          </a:p>
        </p:txBody>
      </p:sp>
      <p:sp>
        <p:nvSpPr>
          <p:cNvPr id="10" name="Rectangle: Rounded Corners 9">
            <a:extLst>
              <a:ext uri="{FF2B5EF4-FFF2-40B4-BE49-F238E27FC236}">
                <a16:creationId xmlns:a16="http://schemas.microsoft.com/office/drawing/2014/main" id="{61B86B28-4032-47B4-AD94-8C9D7F1B2946}"/>
              </a:ext>
            </a:extLst>
          </p:cNvPr>
          <p:cNvSpPr>
            <a:spLocks noGrp="1"/>
          </p:cNvSpPr>
          <p:nvPr/>
        </p:nvSpPr>
        <p:spPr>
          <a:xfrm>
            <a:off x="10001250" y="2190750"/>
            <a:ext cx="1619250" cy="1095375"/>
          </a:xfrm>
          <a:prstGeom prst="roundRect">
            <a:avLst>
              <a:gd name="adj" fmla="val 6957"/>
            </a:avLst>
          </a:prstGeom>
          <a:solidFill>
            <a:srgbClr val="DCF4E7"/>
          </a:solidFill>
          <a:ln w="11430">
            <a:solidFill>
              <a:srgbClr val="2E9D62"/>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Employee</a:t>
            </a:r>
          </a:p>
          <a:p>
            <a:pPr algn="ctr">
              <a:defRPr sz="1350" b="1">
                <a:solidFill>
                  <a:srgbClr val="0B1220"/>
                </a:solidFill>
                <a:latin typeface="Arial"/>
                <a:ea typeface="Arial"/>
                <a:cs typeface="Arial"/>
              </a:defRPr>
            </a:pPr>
            <a:r>
              <a:rPr sz="1350" b="1">
                <a:solidFill>
                  <a:srgbClr val="0B1220"/>
                </a:solidFill>
                <a:latin typeface="Arial"/>
                <a:ea typeface="Arial"/>
                <a:cs typeface="Arial"/>
              </a:rPr>
              <a:t>email</a:t>
            </a:r>
          </a:p>
        </p:txBody>
      </p:sp>
      <p:cxnSp>
        <p:nvCxnSpPr>
          <p:cNvPr id="32" name="Straight Arrow Connector 31"/>
          <p:cNvCxnSpPr>
            <a:stCxn id="5" idx="3"/>
            <a:endCxn id="6" idx="1"/>
          </p:cNvCxnSpPr>
          <p:nvPr/>
        </p:nvCxnSpPr>
        <p:spPr>
          <a:xfrm>
            <a:off x="2362200" y="2738438"/>
            <a:ext cx="495300" cy="0"/>
          </a:xfrm>
          <a:prstGeom prst="straightConnector1">
            <a:avLst/>
          </a:prstGeom>
          <a:ln w="19050">
            <a:solidFill>
              <a:srgbClr val="4B5563"/>
            </a:solidFill>
            <a:prstDash val="solid"/>
            <a:tailEnd type="arrow" w="med" len="med"/>
          </a:ln>
        </p:spPr>
      </p:cxnSp>
      <p:cxnSp>
        <p:nvCxnSpPr>
          <p:cNvPr id="33" name="Connector: Elbow 32"/>
          <p:cNvCxnSpPr>
            <a:stCxn id="6" idx="3"/>
            <a:endCxn id="7" idx="1"/>
          </p:cNvCxnSpPr>
          <p:nvPr/>
        </p:nvCxnSpPr>
        <p:spPr>
          <a:xfrm flipV="1">
            <a:off x="4810125" y="2000250"/>
            <a:ext cx="571500" cy="738188"/>
          </a:xfrm>
          <a:prstGeom prst="bentConnector3">
            <a:avLst>
              <a:gd name="adj1" fmla="val 50000"/>
            </a:avLst>
          </a:prstGeom>
          <a:ln w="19050">
            <a:solidFill>
              <a:srgbClr val="4B5563"/>
            </a:solidFill>
            <a:prstDash val="solid"/>
            <a:tailEnd type="arrow" w="med" len="med"/>
          </a:ln>
        </p:spPr>
      </p:cxnSp>
      <p:cxnSp>
        <p:nvCxnSpPr>
          <p:cNvPr id="34" name="Connector: Elbow 33"/>
          <p:cNvCxnSpPr>
            <a:stCxn id="6" idx="3"/>
            <a:endCxn id="8" idx="1"/>
          </p:cNvCxnSpPr>
          <p:nvPr/>
        </p:nvCxnSpPr>
        <p:spPr>
          <a:xfrm>
            <a:off x="4810125" y="2738438"/>
            <a:ext cx="571500" cy="690563"/>
          </a:xfrm>
          <a:prstGeom prst="bentConnector3">
            <a:avLst>
              <a:gd name="adj1" fmla="val 50000"/>
            </a:avLst>
          </a:prstGeom>
          <a:ln w="19050">
            <a:solidFill>
              <a:srgbClr val="4B5563"/>
            </a:solidFill>
            <a:prstDash val="solid"/>
            <a:tailEnd type="arrow" w="med" len="med"/>
          </a:ln>
        </p:spPr>
      </p:cxnSp>
      <p:cxnSp>
        <p:nvCxnSpPr>
          <p:cNvPr id="35" name="Connector: Elbow 34"/>
          <p:cNvCxnSpPr>
            <a:stCxn id="7" idx="3"/>
            <a:endCxn id="9" idx="1"/>
          </p:cNvCxnSpPr>
          <p:nvPr/>
        </p:nvCxnSpPr>
        <p:spPr>
          <a:xfrm>
            <a:off x="7096125" y="2000250"/>
            <a:ext cx="619125" cy="738188"/>
          </a:xfrm>
          <a:prstGeom prst="bentConnector3">
            <a:avLst>
              <a:gd name="adj1" fmla="val 50000"/>
            </a:avLst>
          </a:prstGeom>
          <a:ln w="19050">
            <a:solidFill>
              <a:srgbClr val="4B5563"/>
            </a:solidFill>
            <a:prstDash val="solid"/>
            <a:tailEnd type="arrow" w="med" len="med"/>
          </a:ln>
        </p:spPr>
      </p:cxnSp>
      <p:cxnSp>
        <p:nvCxnSpPr>
          <p:cNvPr id="36" name="Connector: Elbow 35"/>
          <p:cNvCxnSpPr>
            <a:stCxn id="8" idx="3"/>
            <a:endCxn id="9" idx="1"/>
          </p:cNvCxnSpPr>
          <p:nvPr/>
        </p:nvCxnSpPr>
        <p:spPr>
          <a:xfrm flipV="1">
            <a:off x="7096125" y="2738438"/>
            <a:ext cx="619125" cy="690563"/>
          </a:xfrm>
          <a:prstGeom prst="bentConnector3">
            <a:avLst>
              <a:gd name="adj1" fmla="val 50000"/>
            </a:avLst>
          </a:prstGeom>
          <a:ln w="19050">
            <a:solidFill>
              <a:srgbClr val="4B5563"/>
            </a:solidFill>
            <a:prstDash val="solid"/>
            <a:tailEnd type="arrow" w="med" len="med"/>
          </a:ln>
        </p:spPr>
      </p:cxnSp>
      <p:cxnSp>
        <p:nvCxnSpPr>
          <p:cNvPr id="37" name="Straight Arrow Connector 36"/>
          <p:cNvCxnSpPr>
            <a:stCxn id="9" idx="3"/>
            <a:endCxn id="10" idx="1"/>
          </p:cNvCxnSpPr>
          <p:nvPr/>
        </p:nvCxnSpPr>
        <p:spPr>
          <a:xfrm>
            <a:off x="9525000" y="2738438"/>
            <a:ext cx="476250" cy="0"/>
          </a:xfrm>
          <a:prstGeom prst="straightConnector1">
            <a:avLst/>
          </a:prstGeom>
          <a:ln w="19050">
            <a:solidFill>
              <a:srgbClr val="4B5563"/>
            </a:solidFill>
            <a:prstDash val="solid"/>
            <a:tailEnd type="arrow" w="med" len="med"/>
          </a:ln>
        </p:spPr>
      </p:cxnSp>
      <p:sp>
        <p:nvSpPr>
          <p:cNvPr id="17" name="Rectangle 16">
            <a:extLst>
              <a:ext uri="{FF2B5EF4-FFF2-40B4-BE49-F238E27FC236}">
                <a16:creationId xmlns:a16="http://schemas.microsoft.com/office/drawing/2014/main" id="{B9D05E5E-5A10-43A7-8574-26C27AF03FE9}"/>
              </a:ext>
            </a:extLst>
          </p:cNvPr>
          <p:cNvSpPr>
            <a:spLocks noGrp="1"/>
          </p:cNvSpPr>
          <p:nvPr/>
        </p:nvSpPr>
        <p:spPr>
          <a:xfrm>
            <a:off x="552450" y="4552950"/>
            <a:ext cx="3048000" cy="304800"/>
          </a:xfrm>
          <a:prstGeom prst="rect">
            <a:avLst/>
          </a:prstGeom>
          <a:noFill/>
          <a:ln w="0">
            <a:noFill/>
            <a:prstDash val="solid"/>
          </a:ln>
        </p:spPr>
        <p:txBody>
          <a:bodyPr anchor="t">
            <a:normAutofit fontScale="85278" lnSpcReduction="10000"/>
          </a:bodyPr>
          <a:lstStyle/>
          <a:p>
            <a:pPr algn="l">
              <a:defRPr sz="1800" b="1">
                <a:solidFill>
                  <a:srgbClr val="0B1220"/>
                </a:solidFill>
                <a:latin typeface="Arial"/>
                <a:ea typeface="Arial"/>
                <a:cs typeface="Arial"/>
              </a:defRPr>
            </a:pPr>
            <a:r>
              <a:rPr sz="1800" b="1">
                <a:solidFill>
                  <a:srgbClr val="0B1220"/>
                </a:solidFill>
                <a:latin typeface="Arial"/>
                <a:ea typeface="Arial"/>
                <a:cs typeface="Arial"/>
              </a:rPr>
              <a:t>Filtered outcome subscriptions</a:t>
            </a:r>
          </a:p>
        </p:txBody>
      </p:sp>
      <p:sp>
        <p:nvSpPr>
          <p:cNvPr id="18" name="Rectangle: Rounded Corners 17">
            <a:extLst>
              <a:ext uri="{FF2B5EF4-FFF2-40B4-BE49-F238E27FC236}">
                <a16:creationId xmlns:a16="http://schemas.microsoft.com/office/drawing/2014/main" id="{0583059C-A08F-46AA-898B-5113395182A9}"/>
              </a:ext>
            </a:extLst>
          </p:cNvPr>
          <p:cNvSpPr>
            <a:spLocks noGrp="1"/>
          </p:cNvSpPr>
          <p:nvPr/>
        </p:nvSpPr>
        <p:spPr>
          <a:xfrm>
            <a:off x="552450" y="5095875"/>
            <a:ext cx="2095500" cy="666750"/>
          </a:xfrm>
          <a:prstGeom prst="roundRect">
            <a:avLst>
              <a:gd name="adj" fmla="val 11429"/>
            </a:avLst>
          </a:prstGeom>
          <a:solidFill>
            <a:srgbClr val="DCF4E7"/>
          </a:solidFill>
          <a:ln w="11430">
            <a:solidFill>
              <a:srgbClr val="2E9D62"/>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approved</a:t>
            </a:r>
          </a:p>
        </p:txBody>
      </p:sp>
      <p:sp>
        <p:nvSpPr>
          <p:cNvPr id="19" name="Rectangle: Rounded Corners 18">
            <a:extLst>
              <a:ext uri="{FF2B5EF4-FFF2-40B4-BE49-F238E27FC236}">
                <a16:creationId xmlns:a16="http://schemas.microsoft.com/office/drawing/2014/main" id="{DAA0A5DE-B205-4836-8E60-B7EDFB7D67A1}"/>
              </a:ext>
            </a:extLst>
          </p:cNvPr>
          <p:cNvSpPr>
            <a:spLocks noGrp="1"/>
          </p:cNvSpPr>
          <p:nvPr/>
        </p:nvSpPr>
        <p:spPr>
          <a:xfrm>
            <a:off x="3143250" y="5095875"/>
            <a:ext cx="2095500" cy="666750"/>
          </a:xfrm>
          <a:prstGeom prst="roundRect">
            <a:avLst>
              <a:gd name="adj" fmla="val 11429"/>
            </a:avLst>
          </a:prstGeom>
          <a:solidFill>
            <a:srgbClr val="FCE2E2"/>
          </a:solidFill>
          <a:ln w="11430">
            <a:solidFill>
              <a:srgbClr val="B83A3A"/>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rejected</a:t>
            </a:r>
          </a:p>
        </p:txBody>
      </p:sp>
      <p:sp>
        <p:nvSpPr>
          <p:cNvPr id="20" name="Rectangle: Rounded Corners 19">
            <a:extLst>
              <a:ext uri="{FF2B5EF4-FFF2-40B4-BE49-F238E27FC236}">
                <a16:creationId xmlns:a16="http://schemas.microsoft.com/office/drawing/2014/main" id="{684392B1-237C-41C5-ACDA-232A4DF488FB}"/>
              </a:ext>
            </a:extLst>
          </p:cNvPr>
          <p:cNvSpPr>
            <a:spLocks noGrp="1"/>
          </p:cNvSpPr>
          <p:nvPr/>
        </p:nvSpPr>
        <p:spPr>
          <a:xfrm>
            <a:off x="5734050" y="5095875"/>
            <a:ext cx="2095500" cy="666750"/>
          </a:xfrm>
          <a:prstGeom prst="roundRect">
            <a:avLst>
              <a:gd name="adj" fmla="val 11429"/>
            </a:avLst>
          </a:prstGeom>
          <a:solidFill>
            <a:srgbClr val="FFF1D6"/>
          </a:solidFill>
          <a:ln w="11430">
            <a:solidFill>
              <a:srgbClr val="C47A00"/>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escalated</a:t>
            </a:r>
          </a:p>
        </p:txBody>
      </p:sp>
      <p:sp>
        <p:nvSpPr>
          <p:cNvPr id="21" name="Rectangle 20">
            <a:extLst>
              <a:ext uri="{FF2B5EF4-FFF2-40B4-BE49-F238E27FC236}">
                <a16:creationId xmlns:a16="http://schemas.microsoft.com/office/drawing/2014/main" id="{26A27CFD-4624-451E-BE3E-52488F315C4E}"/>
              </a:ext>
            </a:extLst>
          </p:cNvPr>
          <p:cNvSpPr>
            <a:spLocks noGrp="1"/>
          </p:cNvSpPr>
          <p:nvPr/>
        </p:nvSpPr>
        <p:spPr>
          <a:xfrm>
            <a:off x="8239125" y="5019675"/>
            <a:ext cx="3238500" cy="857250"/>
          </a:xfrm>
          <a:prstGeom prst="rect">
            <a:avLst/>
          </a:prstGeom>
          <a:noFill/>
          <a:ln w="0">
            <a:noFill/>
            <a:prstDash val="solid"/>
          </a:ln>
        </p:spPr>
        <p:txBody>
          <a:bodyPr anchor="t">
            <a:normAutofit/>
          </a:bodyPr>
          <a:lstStyle/>
          <a:p>
            <a:pPr algn="l">
              <a:defRPr sz="1425" b="0">
                <a:solidFill>
                  <a:srgbClr val="4B5563"/>
                </a:solidFill>
                <a:latin typeface="Arial"/>
                <a:ea typeface="Arial"/>
                <a:cs typeface="Arial"/>
              </a:defRPr>
            </a:pPr>
            <a:r>
              <a:rPr sz="1425" b="0">
                <a:solidFill>
                  <a:srgbClr val="4B5563"/>
                </a:solidFill>
                <a:latin typeface="Arial"/>
                <a:ea typeface="Arial"/>
                <a:cs typeface="Arial"/>
              </a:rPr>
              <a:t>Standard tier is required because Basic does not support topics.</a:t>
            </a:r>
          </a:p>
        </p:txBody>
      </p:sp>
    </p:spTree>
    <p:extLst>
      <p:ext uri="{BB962C8B-B14F-4D97-AF65-F5344CB8AC3E}">
        <p14:creationId xmlns:p14="http://schemas.microsoft.com/office/powerpoint/2010/main" val="2090427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A7D5E5A-47B0-4FF2-9E43-18A074A6FAC4}"/>
              </a:ext>
            </a:extLst>
          </p:cNvPr>
          <p:cNvSpPr>
            <a:spLocks noGrp="1"/>
          </p:cNvSpPr>
          <p:nvPr/>
        </p:nvSpPr>
        <p:spPr>
          <a:xfrm>
            <a:off x="533400" y="323850"/>
            <a:ext cx="3143250" cy="266700"/>
          </a:xfrm>
          <a:prstGeom prst="rect">
            <a:avLst/>
          </a:prstGeom>
          <a:noFill/>
          <a:ln w="0">
            <a:noFill/>
            <a:prstDash val="solid"/>
          </a:ln>
        </p:spPr>
        <p:txBody>
          <a:bodyPr anchor="t">
            <a:normAutofit/>
          </a:bodyPr>
          <a:lstStyle/>
          <a:p>
            <a:pPr algn="l">
              <a:defRPr sz="1125" b="1">
                <a:solidFill>
                  <a:srgbClr val="2F80ED"/>
                </a:solidFill>
                <a:latin typeface="Arial"/>
                <a:ea typeface="Arial"/>
                <a:cs typeface="Arial"/>
              </a:defRPr>
            </a:pPr>
            <a:r>
              <a:rPr sz="1125" b="1">
                <a:solidFill>
                  <a:srgbClr val="2F80ED"/>
                </a:solidFill>
                <a:latin typeface="Arial"/>
                <a:ea typeface="Arial"/>
                <a:cs typeface="Arial"/>
              </a:rPr>
              <a:t>MANAGER APPROVAL CHOICE</a:t>
            </a:r>
          </a:p>
        </p:txBody>
      </p:sp>
      <p:sp>
        <p:nvSpPr>
          <p:cNvPr id="2" name="slide-7-title">
            <a:extLst>
              <a:ext uri="{FF2B5EF4-FFF2-40B4-BE49-F238E27FC236}">
                <a16:creationId xmlns:a16="http://schemas.microsoft.com/office/drawing/2014/main" id="{D85D357F-C90D-440E-A0C7-04EE6D6D3E51}"/>
              </a:ext>
            </a:extLst>
          </p:cNvPr>
          <p:cNvSpPr>
            <a:spLocks noGrp="1"/>
          </p:cNvSpPr>
          <p:nvPr/>
        </p:nvSpPr>
        <p:spPr>
          <a:xfrm>
            <a:off x="533400" y="628650"/>
            <a:ext cx="10763250" cy="742950"/>
          </a:xfrm>
          <a:prstGeom prst="rect">
            <a:avLst/>
          </a:prstGeom>
          <a:noFill/>
          <a:ln w="0">
            <a:noFill/>
            <a:prstDash val="solid"/>
          </a:ln>
        </p:spPr>
        <p:txBody>
          <a:bodyPr anchor="t">
            <a:normAutofit/>
          </a:bodyPr>
          <a:lstStyle/>
          <a:p>
            <a:pPr algn="l">
              <a:defRPr sz="2925" b="1">
                <a:solidFill>
                  <a:srgbClr val="0B1220"/>
                </a:solidFill>
                <a:latin typeface="Arial"/>
                <a:ea typeface="Arial"/>
                <a:cs typeface="Arial"/>
              </a:defRPr>
            </a:pPr>
            <a:r>
              <a:rPr sz="2925" b="1">
                <a:solidFill>
                  <a:srgbClr val="0B1220"/>
                </a:solidFill>
                <a:latin typeface="Arial"/>
                <a:ea typeface="Arial"/>
                <a:cs typeface="Arial"/>
              </a:rPr>
              <a:t>Logic Apps uses a connector timeout and run-after scope</a:t>
            </a:r>
          </a:p>
        </p:txBody>
      </p:sp>
      <p:sp>
        <p:nvSpPr>
          <p:cNvPr id="3" name="Rectangle 2">
            <a:extLst>
              <a:ext uri="{FF2B5EF4-FFF2-40B4-BE49-F238E27FC236}">
                <a16:creationId xmlns:a16="http://schemas.microsoft.com/office/drawing/2014/main" id="{9D849E5B-1ACC-4AE0-96A7-49AD35F5C036}"/>
              </a:ext>
            </a:extLst>
          </p:cNvPr>
          <p:cNvSpPr>
            <a:spLocks noGrp="1"/>
          </p:cNvSpPr>
          <p:nvPr/>
        </p:nvSpPr>
        <p:spPr>
          <a:xfrm>
            <a:off x="533400" y="1409700"/>
            <a:ext cx="11125200" cy="19050"/>
          </a:xfrm>
          <a:prstGeom prst="rect">
            <a:avLst/>
          </a:prstGeom>
          <a:solidFill>
            <a:srgbClr val="B8BCC4"/>
          </a:solidFill>
          <a:ln w="0">
            <a:solidFill>
              <a:srgbClr val="B8BCC4"/>
            </a:solidFill>
            <a:prstDash val="solid"/>
          </a:ln>
        </p:spPr>
        <p:txBody>
          <a:bodyPr/>
          <a:lstStyle/>
          <a:p>
            <a:endParaRPr lang="zh-CN" altLang="en-US"/>
          </a:p>
        </p:txBody>
      </p:sp>
      <p:sp>
        <p:nvSpPr>
          <p:cNvPr id="4" name="Rectangle 3">
            <a:extLst>
              <a:ext uri="{FF2B5EF4-FFF2-40B4-BE49-F238E27FC236}">
                <a16:creationId xmlns:a16="http://schemas.microsoft.com/office/drawing/2014/main" id="{F3165867-CB45-4F73-BEEF-A7218E345829}"/>
              </a:ext>
            </a:extLst>
          </p:cNvPr>
          <p:cNvSpPr>
            <a:spLocks noGrp="1"/>
          </p:cNvSpPr>
          <p:nvPr/>
        </p:nvSpPr>
        <p:spPr>
          <a:xfrm>
            <a:off x="11191875" y="6419850"/>
            <a:ext cx="457200" cy="190500"/>
          </a:xfrm>
          <a:prstGeom prst="rect">
            <a:avLst/>
          </a:prstGeom>
          <a:noFill/>
          <a:ln w="0">
            <a:noFill/>
            <a:prstDash val="solid"/>
          </a:ln>
        </p:spPr>
        <p:txBody>
          <a:bodyPr anchor="t">
            <a:normAutofit fontScale="79722" lnSpcReduction="10000"/>
          </a:bodyPr>
          <a:lstStyle/>
          <a:p>
            <a:pPr algn="r">
              <a:defRPr sz="900" b="0">
                <a:solidFill>
                  <a:srgbClr val="4B5563"/>
                </a:solidFill>
                <a:latin typeface="Arial"/>
                <a:ea typeface="Arial"/>
                <a:cs typeface="Arial"/>
              </a:defRPr>
            </a:pPr>
            <a:r>
              <a:rPr sz="900" b="0">
                <a:solidFill>
                  <a:srgbClr val="4B5563"/>
                </a:solidFill>
                <a:latin typeface="Arial"/>
                <a:ea typeface="Arial"/>
                <a:cs typeface="Arial"/>
              </a:rPr>
              <a:t>07</a:t>
            </a:r>
          </a:p>
        </p:txBody>
      </p:sp>
      <p:sp>
        <p:nvSpPr>
          <p:cNvPr id="5" name="Rectangle: Rounded Corners 4">
            <a:extLst>
              <a:ext uri="{FF2B5EF4-FFF2-40B4-BE49-F238E27FC236}">
                <a16:creationId xmlns:a16="http://schemas.microsoft.com/office/drawing/2014/main" id="{21FC314F-0B47-49A8-A2D5-C3E77344B5A1}"/>
              </a:ext>
            </a:extLst>
          </p:cNvPr>
          <p:cNvSpPr>
            <a:spLocks noGrp="1"/>
          </p:cNvSpPr>
          <p:nvPr/>
        </p:nvSpPr>
        <p:spPr>
          <a:xfrm>
            <a:off x="762000" y="2381250"/>
            <a:ext cx="2571750" cy="1047750"/>
          </a:xfrm>
          <a:prstGeom prst="roundRect">
            <a:avLst>
              <a:gd name="adj" fmla="val 7273"/>
            </a:avLst>
          </a:prstGeom>
          <a:solidFill>
            <a:srgbClr val="DCEEFF"/>
          </a:solidFill>
          <a:ln w="11430">
            <a:solidFill>
              <a:srgbClr val="B8BCC4"/>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Send approval email</a:t>
            </a:r>
          </a:p>
          <a:p>
            <a:pPr algn="ctr">
              <a:defRPr sz="1350" b="1">
                <a:solidFill>
                  <a:srgbClr val="0B1220"/>
                </a:solidFill>
                <a:latin typeface="Arial"/>
                <a:ea typeface="Arial"/>
                <a:cs typeface="Arial"/>
              </a:defRPr>
            </a:pPr>
            <a:r>
              <a:rPr sz="1350" b="1">
                <a:solidFill>
                  <a:srgbClr val="0B1220"/>
                </a:solidFill>
                <a:latin typeface="Arial"/>
                <a:ea typeface="Arial"/>
                <a:cs typeface="Arial"/>
              </a:rPr>
              <a:t>Options: Approve / Reject</a:t>
            </a:r>
          </a:p>
        </p:txBody>
      </p:sp>
      <p:sp>
        <p:nvSpPr>
          <p:cNvPr id="6" name="Rectangle: Rounded Corners 5">
            <a:extLst>
              <a:ext uri="{FF2B5EF4-FFF2-40B4-BE49-F238E27FC236}">
                <a16:creationId xmlns:a16="http://schemas.microsoft.com/office/drawing/2014/main" id="{17A9B96D-6D58-4375-B273-0D8F4F80DD60}"/>
              </a:ext>
            </a:extLst>
          </p:cNvPr>
          <p:cNvSpPr>
            <a:spLocks noGrp="1"/>
          </p:cNvSpPr>
          <p:nvPr/>
        </p:nvSpPr>
        <p:spPr>
          <a:xfrm>
            <a:off x="4095750" y="2381250"/>
            <a:ext cx="2095500" cy="1047750"/>
          </a:xfrm>
          <a:prstGeom prst="roundRect">
            <a:avLst>
              <a:gd name="adj" fmla="val 7273"/>
            </a:avLst>
          </a:prstGeom>
          <a:solidFill>
            <a:srgbClr val="EEF2F6"/>
          </a:solidFill>
          <a:ln w="11430">
            <a:solidFill>
              <a:srgbClr val="B8BCC4"/>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Response received?</a:t>
            </a:r>
          </a:p>
        </p:txBody>
      </p:sp>
      <p:sp>
        <p:nvSpPr>
          <p:cNvPr id="7" name="Rectangle: Rounded Corners 6">
            <a:extLst>
              <a:ext uri="{FF2B5EF4-FFF2-40B4-BE49-F238E27FC236}">
                <a16:creationId xmlns:a16="http://schemas.microsoft.com/office/drawing/2014/main" id="{046DF858-A798-4279-A598-4B76F1711633}"/>
              </a:ext>
            </a:extLst>
          </p:cNvPr>
          <p:cNvSpPr>
            <a:spLocks noGrp="1"/>
          </p:cNvSpPr>
          <p:nvPr/>
        </p:nvSpPr>
        <p:spPr>
          <a:xfrm>
            <a:off x="7096125" y="1666875"/>
            <a:ext cx="2095500" cy="857250"/>
          </a:xfrm>
          <a:prstGeom prst="roundRect">
            <a:avLst>
              <a:gd name="adj" fmla="val 8889"/>
            </a:avLst>
          </a:prstGeom>
          <a:solidFill>
            <a:srgbClr val="DCF4E7"/>
          </a:solidFill>
          <a:ln w="11430">
            <a:solidFill>
              <a:srgbClr val="2E9D62"/>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Set approved</a:t>
            </a:r>
          </a:p>
          <a:p>
            <a:pPr algn="ctr">
              <a:defRPr sz="1350" b="1">
                <a:solidFill>
                  <a:srgbClr val="0B1220"/>
                </a:solidFill>
                <a:latin typeface="Arial"/>
                <a:ea typeface="Arial"/>
                <a:cs typeface="Arial"/>
              </a:defRPr>
            </a:pPr>
            <a:r>
              <a:rPr sz="1350" b="1">
                <a:solidFill>
                  <a:srgbClr val="0B1220"/>
                </a:solidFill>
                <a:latin typeface="Arial"/>
                <a:ea typeface="Arial"/>
                <a:cs typeface="Arial"/>
              </a:rPr>
              <a:t>or rejected</a:t>
            </a:r>
          </a:p>
        </p:txBody>
      </p:sp>
      <p:sp>
        <p:nvSpPr>
          <p:cNvPr id="8" name="Rectangle: Rounded Corners 7">
            <a:extLst>
              <a:ext uri="{FF2B5EF4-FFF2-40B4-BE49-F238E27FC236}">
                <a16:creationId xmlns:a16="http://schemas.microsoft.com/office/drawing/2014/main" id="{EAED5547-5685-4BC2-9D79-586403BACA75}"/>
              </a:ext>
            </a:extLst>
          </p:cNvPr>
          <p:cNvSpPr>
            <a:spLocks noGrp="1"/>
          </p:cNvSpPr>
          <p:nvPr/>
        </p:nvSpPr>
        <p:spPr>
          <a:xfrm>
            <a:off x="7096125" y="3286125"/>
            <a:ext cx="2095500" cy="857250"/>
          </a:xfrm>
          <a:prstGeom prst="roundRect">
            <a:avLst>
              <a:gd name="adj" fmla="val 8889"/>
            </a:avLst>
          </a:prstGeom>
          <a:solidFill>
            <a:srgbClr val="FFF1D6"/>
          </a:solidFill>
          <a:ln w="11430">
            <a:solidFill>
              <a:srgbClr val="C47A00"/>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Run after timeout</a:t>
            </a:r>
          </a:p>
          <a:p>
            <a:pPr algn="ctr">
              <a:defRPr sz="1350" b="1">
                <a:solidFill>
                  <a:srgbClr val="0B1220"/>
                </a:solidFill>
                <a:latin typeface="Arial"/>
                <a:ea typeface="Arial"/>
                <a:cs typeface="Arial"/>
              </a:defRPr>
            </a:pPr>
            <a:r>
              <a:rPr sz="1350" b="1">
                <a:solidFill>
                  <a:srgbClr val="0B1220"/>
                </a:solidFill>
                <a:latin typeface="Arial"/>
                <a:ea typeface="Arial"/>
                <a:cs typeface="Arial"/>
              </a:rPr>
              <a:t>Set escalated</a:t>
            </a:r>
          </a:p>
        </p:txBody>
      </p:sp>
      <p:sp>
        <p:nvSpPr>
          <p:cNvPr id="9" name="Rectangle: Rounded Corners 8">
            <a:extLst>
              <a:ext uri="{FF2B5EF4-FFF2-40B4-BE49-F238E27FC236}">
                <a16:creationId xmlns:a16="http://schemas.microsoft.com/office/drawing/2014/main" id="{7A849D88-6C6D-4757-9659-DB9CE4AE888B}"/>
              </a:ext>
            </a:extLst>
          </p:cNvPr>
          <p:cNvSpPr>
            <a:spLocks noGrp="1"/>
          </p:cNvSpPr>
          <p:nvPr/>
        </p:nvSpPr>
        <p:spPr>
          <a:xfrm>
            <a:off x="9810750" y="2381250"/>
            <a:ext cx="1809750" cy="1047750"/>
          </a:xfrm>
          <a:prstGeom prst="roundRect">
            <a:avLst>
              <a:gd name="adj" fmla="val 7273"/>
            </a:avLst>
          </a:prstGeom>
          <a:solidFill>
            <a:srgbClr val="DCEEFF"/>
          </a:solidFill>
          <a:ln w="11430">
            <a:solidFill>
              <a:srgbClr val="B8BCC4"/>
            </a:solidFill>
            <a:prstDash val="solid"/>
          </a:ln>
        </p:spPr>
        <p:txBody>
          <a:bodyPr anchor="ctr">
            <a:normAutofit/>
          </a:bodyPr>
          <a:lstStyle/>
          <a:p>
            <a:pPr algn="ctr">
              <a:defRPr sz="1350" b="1">
                <a:solidFill>
                  <a:srgbClr val="0B1220"/>
                </a:solidFill>
                <a:latin typeface="Arial"/>
                <a:ea typeface="Arial"/>
                <a:cs typeface="Arial"/>
              </a:defRPr>
            </a:pPr>
            <a:r>
              <a:rPr sz="1350" b="1">
                <a:solidFill>
                  <a:srgbClr val="0B1220"/>
                </a:solidFill>
                <a:latin typeface="Arial"/>
                <a:ea typeface="Arial"/>
                <a:cs typeface="Arial"/>
              </a:rPr>
              <a:t>Publish + notify</a:t>
            </a:r>
          </a:p>
        </p:txBody>
      </p:sp>
      <p:cxnSp>
        <p:nvCxnSpPr>
          <p:cNvPr id="27" name="Straight Arrow Connector 26"/>
          <p:cNvCxnSpPr>
            <a:stCxn id="5" idx="3"/>
            <a:endCxn id="6" idx="1"/>
          </p:cNvCxnSpPr>
          <p:nvPr/>
        </p:nvCxnSpPr>
        <p:spPr>
          <a:xfrm>
            <a:off x="3333750" y="2905125"/>
            <a:ext cx="762000" cy="0"/>
          </a:xfrm>
          <a:prstGeom prst="straightConnector1">
            <a:avLst/>
          </a:prstGeom>
          <a:ln w="19050">
            <a:solidFill>
              <a:srgbClr val="4B5563"/>
            </a:solidFill>
            <a:prstDash val="solid"/>
            <a:tailEnd type="arrow" w="med" len="med"/>
          </a:ln>
        </p:spPr>
      </p:cxnSp>
      <p:cxnSp>
        <p:nvCxnSpPr>
          <p:cNvPr id="28" name="Connector: Elbow 27"/>
          <p:cNvCxnSpPr>
            <a:stCxn id="6" idx="3"/>
            <a:endCxn id="7" idx="1"/>
          </p:cNvCxnSpPr>
          <p:nvPr/>
        </p:nvCxnSpPr>
        <p:spPr>
          <a:xfrm flipV="1">
            <a:off x="6191250" y="2095500"/>
            <a:ext cx="904875" cy="809625"/>
          </a:xfrm>
          <a:prstGeom prst="bentConnector3">
            <a:avLst>
              <a:gd name="adj1" fmla="val 50000"/>
            </a:avLst>
          </a:prstGeom>
          <a:ln w="19050">
            <a:solidFill>
              <a:srgbClr val="2E9D62"/>
            </a:solidFill>
            <a:prstDash val="solid"/>
            <a:tailEnd type="arrow" w="med" len="med"/>
          </a:ln>
        </p:spPr>
      </p:cxnSp>
      <p:cxnSp>
        <p:nvCxnSpPr>
          <p:cNvPr id="29" name="Connector: Elbow 28"/>
          <p:cNvCxnSpPr>
            <a:stCxn id="6" idx="3"/>
            <a:endCxn id="8" idx="1"/>
          </p:cNvCxnSpPr>
          <p:nvPr/>
        </p:nvCxnSpPr>
        <p:spPr>
          <a:xfrm>
            <a:off x="6191250" y="2905125"/>
            <a:ext cx="904875" cy="809625"/>
          </a:xfrm>
          <a:prstGeom prst="bentConnector3">
            <a:avLst>
              <a:gd name="adj1" fmla="val 50000"/>
            </a:avLst>
          </a:prstGeom>
          <a:ln w="19050">
            <a:solidFill>
              <a:srgbClr val="C47A00"/>
            </a:solidFill>
            <a:prstDash val="solid"/>
            <a:tailEnd type="arrow" w="med" len="med"/>
          </a:ln>
        </p:spPr>
      </p:cxnSp>
      <p:cxnSp>
        <p:nvCxnSpPr>
          <p:cNvPr id="30" name="Connector: Elbow 29"/>
          <p:cNvCxnSpPr>
            <a:stCxn id="7" idx="3"/>
            <a:endCxn id="9" idx="1"/>
          </p:cNvCxnSpPr>
          <p:nvPr/>
        </p:nvCxnSpPr>
        <p:spPr>
          <a:xfrm>
            <a:off x="9191625" y="2095500"/>
            <a:ext cx="619125" cy="809625"/>
          </a:xfrm>
          <a:prstGeom prst="bentConnector3">
            <a:avLst>
              <a:gd name="adj1" fmla="val 50000"/>
            </a:avLst>
          </a:prstGeom>
          <a:ln w="19050">
            <a:solidFill>
              <a:srgbClr val="4B5563"/>
            </a:solidFill>
            <a:prstDash val="solid"/>
            <a:tailEnd type="arrow" w="med" len="med"/>
          </a:ln>
        </p:spPr>
      </p:cxnSp>
      <p:cxnSp>
        <p:nvCxnSpPr>
          <p:cNvPr id="31" name="Connector: Elbow 30"/>
          <p:cNvCxnSpPr>
            <a:stCxn id="8" idx="3"/>
            <a:endCxn id="9" idx="1"/>
          </p:cNvCxnSpPr>
          <p:nvPr/>
        </p:nvCxnSpPr>
        <p:spPr>
          <a:xfrm flipV="1">
            <a:off x="9191625" y="2905125"/>
            <a:ext cx="619125" cy="809625"/>
          </a:xfrm>
          <a:prstGeom prst="bentConnector3">
            <a:avLst>
              <a:gd name="adj1" fmla="val 50000"/>
            </a:avLst>
          </a:prstGeom>
          <a:ln w="19050">
            <a:solidFill>
              <a:srgbClr val="4B5563"/>
            </a:solidFill>
            <a:prstDash val="solid"/>
            <a:tailEnd type="arrow" w="med" len="med"/>
          </a:ln>
        </p:spPr>
      </p:cxnSp>
      <p:sp>
        <p:nvSpPr>
          <p:cNvPr id="15" name="Rectangle 14">
            <a:extLst>
              <a:ext uri="{FF2B5EF4-FFF2-40B4-BE49-F238E27FC236}">
                <a16:creationId xmlns:a16="http://schemas.microsoft.com/office/drawing/2014/main" id="{A0386E0B-CBA1-4C4A-9C5D-6C4BB223D15C}"/>
              </a:ext>
            </a:extLst>
          </p:cNvPr>
          <p:cNvSpPr>
            <a:spLocks noGrp="1"/>
          </p:cNvSpPr>
          <p:nvPr/>
        </p:nvSpPr>
        <p:spPr>
          <a:xfrm>
            <a:off x="762000" y="4524375"/>
            <a:ext cx="2857500" cy="361950"/>
          </a:xfrm>
          <a:prstGeom prst="rect">
            <a:avLst/>
          </a:prstGeom>
          <a:noFill/>
          <a:ln w="0">
            <a:noFill/>
            <a:prstDash val="solid"/>
          </a:ln>
        </p:spPr>
        <p:txBody>
          <a:bodyPr anchor="t">
            <a:normAutofit fontScale="87654" lnSpcReduction="10000"/>
          </a:bodyPr>
          <a:lstStyle/>
          <a:p>
            <a:pPr algn="l">
              <a:defRPr sz="2025" b="1">
                <a:solidFill>
                  <a:srgbClr val="C47A00"/>
                </a:solidFill>
                <a:latin typeface="Arial"/>
                <a:ea typeface="Arial"/>
                <a:cs typeface="Arial"/>
              </a:defRPr>
            </a:pPr>
            <a:r>
              <a:rPr sz="2025" b="1">
                <a:solidFill>
                  <a:srgbClr val="C47A00"/>
                </a:solidFill>
                <a:latin typeface="Arial"/>
                <a:ea typeface="Arial"/>
                <a:cs typeface="Arial"/>
              </a:rPr>
              <a:t>Demo timeout: PT2M</a:t>
            </a:r>
          </a:p>
        </p:txBody>
      </p:sp>
      <p:sp>
        <p:nvSpPr>
          <p:cNvPr id="16" name="Rectangle 15">
            <a:extLst>
              <a:ext uri="{FF2B5EF4-FFF2-40B4-BE49-F238E27FC236}">
                <a16:creationId xmlns:a16="http://schemas.microsoft.com/office/drawing/2014/main" id="{9269AE52-9ED9-4AD8-96AE-4011769FD2CB}"/>
              </a:ext>
            </a:extLst>
          </p:cNvPr>
          <p:cNvSpPr>
            <a:spLocks noGrp="1"/>
          </p:cNvSpPr>
          <p:nvPr/>
        </p:nvSpPr>
        <p:spPr>
          <a:xfrm>
            <a:off x="762000" y="5000625"/>
            <a:ext cx="8572500" cy="438150"/>
          </a:xfrm>
          <a:prstGeom prst="rect">
            <a:avLst/>
          </a:prstGeom>
          <a:noFill/>
          <a:ln w="0">
            <a:noFill/>
            <a:prstDash val="solid"/>
          </a:ln>
        </p:spPr>
        <p:txBody>
          <a:bodyPr anchor="t">
            <a:normAutofit/>
          </a:bodyPr>
          <a:lstStyle/>
          <a:p>
            <a:pPr algn="l">
              <a:defRPr sz="1650" b="0">
                <a:solidFill>
                  <a:srgbClr val="4B5563"/>
                </a:solidFill>
                <a:latin typeface="Arial"/>
                <a:ea typeface="Arial"/>
                <a:cs typeface="Arial"/>
              </a:defRPr>
            </a:pPr>
            <a:r>
              <a:rPr sz="1650" b="0">
                <a:solidFill>
                  <a:srgbClr val="4B5563"/>
                </a:solidFill>
                <a:latin typeface="Arial"/>
                <a:ea typeface="Arial"/>
                <a:cs typeface="Arial"/>
              </a:rPr>
              <a:t>Production could use P2D or another policy based on the business SLA.</a:t>
            </a:r>
          </a:p>
        </p:txBody>
      </p:sp>
      <p:sp>
        <p:nvSpPr>
          <p:cNvPr id="17" name="Rectangle 16">
            <a:extLst>
              <a:ext uri="{FF2B5EF4-FFF2-40B4-BE49-F238E27FC236}">
                <a16:creationId xmlns:a16="http://schemas.microsoft.com/office/drawing/2014/main" id="{136D5F55-DFA2-406A-A719-3F30F7898FB6}"/>
              </a:ext>
            </a:extLst>
          </p:cNvPr>
          <p:cNvSpPr>
            <a:spLocks noGrp="1"/>
          </p:cNvSpPr>
          <p:nvPr/>
        </p:nvSpPr>
        <p:spPr>
          <a:xfrm>
            <a:off x="762000" y="5667375"/>
            <a:ext cx="9715500" cy="400050"/>
          </a:xfrm>
          <a:prstGeom prst="rect">
            <a:avLst/>
          </a:prstGeom>
          <a:noFill/>
          <a:ln w="0">
            <a:noFill/>
            <a:prstDash val="solid"/>
          </a:ln>
        </p:spPr>
        <p:txBody>
          <a:bodyPr anchor="t">
            <a:normAutofit/>
          </a:bodyPr>
          <a:lstStyle/>
          <a:p>
            <a:pPr algn="l">
              <a:defRPr sz="1725" b="1">
                <a:solidFill>
                  <a:srgbClr val="2F80ED"/>
                </a:solidFill>
                <a:latin typeface="Arial"/>
                <a:ea typeface="Arial"/>
                <a:cs typeface="Arial"/>
              </a:defRPr>
            </a:pPr>
            <a:r>
              <a:rPr sz="1725" b="1">
                <a:solidFill>
                  <a:srgbClr val="2F80ED"/>
                </a:solidFill>
                <a:latin typeface="Arial"/>
                <a:ea typeface="Arial"/>
                <a:cs typeface="Arial"/>
              </a:rPr>
              <a:t>Trade-off: quick Microsoft 365 integration, but stronger connector dependency.</a:t>
            </a:r>
          </a:p>
        </p:txBody>
      </p:sp>
    </p:spTree>
    <p:extLst>
      <p:ext uri="{BB962C8B-B14F-4D97-AF65-F5344CB8AC3E}">
        <p14:creationId xmlns:p14="http://schemas.microsoft.com/office/powerpoint/2010/main" val="56394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E420F1-23C3-471E-93F1-8D8EC4058B3C}"/>
              </a:ext>
            </a:extLst>
          </p:cNvPr>
          <p:cNvSpPr>
            <a:spLocks noGrp="1"/>
          </p:cNvSpPr>
          <p:nvPr/>
        </p:nvSpPr>
        <p:spPr>
          <a:xfrm>
            <a:off x="533400" y="323850"/>
            <a:ext cx="3143250" cy="266700"/>
          </a:xfrm>
          <a:prstGeom prst="rect">
            <a:avLst/>
          </a:prstGeom>
          <a:noFill/>
          <a:ln w="0">
            <a:noFill/>
            <a:prstDash val="solid"/>
          </a:ln>
        </p:spPr>
        <p:txBody>
          <a:bodyPr anchor="t">
            <a:normAutofit/>
          </a:bodyPr>
          <a:lstStyle/>
          <a:p>
            <a:pPr>
              <a:defRPr sz="1125" b="1">
                <a:solidFill>
                  <a:srgbClr val="2F80ED"/>
                </a:solidFill>
                <a:latin typeface="Arial"/>
                <a:ea typeface="Arial"/>
                <a:cs typeface="Arial"/>
              </a:defRPr>
            </a:pPr>
            <a:r>
              <a:rPr lang="zh-CN" altLang="zh-CN" sz="1125" b="1" dirty="0"/>
              <a:t>TEST EVIDENCE</a:t>
            </a:r>
            <a:endParaRPr sz="1125" b="1" dirty="0">
              <a:solidFill>
                <a:srgbClr val="2F80ED"/>
              </a:solidFill>
              <a:latin typeface="Arial"/>
              <a:ea typeface="Arial"/>
              <a:cs typeface="Arial"/>
            </a:endParaRPr>
          </a:p>
        </p:txBody>
      </p:sp>
      <p:sp>
        <p:nvSpPr>
          <p:cNvPr id="2" name="slide-8-title">
            <a:extLst>
              <a:ext uri="{FF2B5EF4-FFF2-40B4-BE49-F238E27FC236}">
                <a16:creationId xmlns:a16="http://schemas.microsoft.com/office/drawing/2014/main" id="{7A419280-C16D-48EC-BE29-32AA079E5C1F}"/>
              </a:ext>
            </a:extLst>
          </p:cNvPr>
          <p:cNvSpPr>
            <a:spLocks noGrp="1"/>
          </p:cNvSpPr>
          <p:nvPr/>
        </p:nvSpPr>
        <p:spPr>
          <a:xfrm>
            <a:off x="533400" y="628650"/>
            <a:ext cx="10763250" cy="742950"/>
          </a:xfrm>
          <a:prstGeom prst="rect">
            <a:avLst/>
          </a:prstGeom>
          <a:noFill/>
          <a:ln w="0">
            <a:noFill/>
            <a:prstDash val="solid"/>
          </a:ln>
        </p:spPr>
        <p:txBody>
          <a:bodyPr anchor="t">
            <a:normAutofit/>
          </a:bodyPr>
          <a:lstStyle/>
          <a:p>
            <a:pPr algn="l">
              <a:defRPr sz="2925" b="1">
                <a:solidFill>
                  <a:srgbClr val="0B1220"/>
                </a:solidFill>
                <a:latin typeface="Arial"/>
                <a:ea typeface="Arial"/>
                <a:cs typeface="Arial"/>
              </a:defRPr>
            </a:pPr>
            <a:r>
              <a:rPr sz="2925" b="1" dirty="0">
                <a:solidFill>
                  <a:srgbClr val="0B1220"/>
                </a:solidFill>
                <a:latin typeface="Arial"/>
                <a:ea typeface="Arial"/>
                <a:cs typeface="Arial"/>
              </a:rPr>
              <a:t>Run history makes every Logic App branch visible</a:t>
            </a:r>
          </a:p>
        </p:txBody>
      </p:sp>
      <p:sp>
        <p:nvSpPr>
          <p:cNvPr id="3" name="Rectangle 2">
            <a:extLst>
              <a:ext uri="{FF2B5EF4-FFF2-40B4-BE49-F238E27FC236}">
                <a16:creationId xmlns:a16="http://schemas.microsoft.com/office/drawing/2014/main" id="{6CFE6F1A-43B8-47F2-98EE-628535D4ACAA}"/>
              </a:ext>
            </a:extLst>
          </p:cNvPr>
          <p:cNvSpPr>
            <a:spLocks noGrp="1"/>
          </p:cNvSpPr>
          <p:nvPr/>
        </p:nvSpPr>
        <p:spPr>
          <a:xfrm>
            <a:off x="533400" y="1409700"/>
            <a:ext cx="11125200" cy="19050"/>
          </a:xfrm>
          <a:prstGeom prst="rect">
            <a:avLst/>
          </a:prstGeom>
          <a:solidFill>
            <a:srgbClr val="B8BCC4"/>
          </a:solidFill>
          <a:ln w="0">
            <a:solidFill>
              <a:srgbClr val="B8BCC4"/>
            </a:solidFill>
            <a:prstDash val="solid"/>
          </a:ln>
        </p:spPr>
        <p:txBody>
          <a:bodyPr/>
          <a:lstStyle/>
          <a:p>
            <a:endParaRPr lang="zh-CN" altLang="en-US"/>
          </a:p>
        </p:txBody>
      </p:sp>
      <p:sp>
        <p:nvSpPr>
          <p:cNvPr id="4" name="Rectangle 3">
            <a:extLst>
              <a:ext uri="{FF2B5EF4-FFF2-40B4-BE49-F238E27FC236}">
                <a16:creationId xmlns:a16="http://schemas.microsoft.com/office/drawing/2014/main" id="{FBE933F4-D69C-4775-89FA-95AC41ACA93C}"/>
              </a:ext>
            </a:extLst>
          </p:cNvPr>
          <p:cNvSpPr>
            <a:spLocks noGrp="1"/>
          </p:cNvSpPr>
          <p:nvPr/>
        </p:nvSpPr>
        <p:spPr>
          <a:xfrm>
            <a:off x="11191875" y="6419850"/>
            <a:ext cx="457200" cy="190500"/>
          </a:xfrm>
          <a:prstGeom prst="rect">
            <a:avLst/>
          </a:prstGeom>
          <a:noFill/>
          <a:ln w="0">
            <a:noFill/>
            <a:prstDash val="solid"/>
          </a:ln>
        </p:spPr>
        <p:txBody>
          <a:bodyPr anchor="t">
            <a:normAutofit fontScale="87222" lnSpcReduction="20000"/>
          </a:bodyPr>
          <a:lstStyle/>
          <a:p>
            <a:pPr algn="r">
              <a:defRPr sz="900" b="0">
                <a:solidFill>
                  <a:srgbClr val="4B5563"/>
                </a:solidFill>
                <a:latin typeface="Arial"/>
                <a:ea typeface="Arial"/>
                <a:cs typeface="Arial"/>
              </a:defRPr>
            </a:pPr>
            <a:r>
              <a:rPr sz="900" b="0">
                <a:solidFill>
                  <a:srgbClr val="4B5563"/>
                </a:solidFill>
                <a:latin typeface="Arial"/>
                <a:ea typeface="Arial"/>
                <a:cs typeface="Arial"/>
              </a:rPr>
              <a:t>08</a:t>
            </a:r>
          </a:p>
        </p:txBody>
      </p:sp>
      <p:sp>
        <p:nvSpPr>
          <p:cNvPr id="6" name="Rectangle 5">
            <a:extLst>
              <a:ext uri="{FF2B5EF4-FFF2-40B4-BE49-F238E27FC236}">
                <a16:creationId xmlns:a16="http://schemas.microsoft.com/office/drawing/2014/main" id="{EF12A33C-18C1-42D9-95BF-6D50F1464326}"/>
              </a:ext>
            </a:extLst>
          </p:cNvPr>
          <p:cNvSpPr>
            <a:spLocks noGrp="1"/>
          </p:cNvSpPr>
          <p:nvPr/>
        </p:nvSpPr>
        <p:spPr>
          <a:xfrm>
            <a:off x="8143875" y="1809750"/>
            <a:ext cx="3143250" cy="323850"/>
          </a:xfrm>
          <a:prstGeom prst="rect">
            <a:avLst/>
          </a:prstGeom>
          <a:noFill/>
          <a:ln w="0">
            <a:noFill/>
            <a:prstDash val="solid"/>
          </a:ln>
        </p:spPr>
        <p:txBody>
          <a:bodyPr anchor="t">
            <a:normAutofit fontScale="85705" lnSpcReduction="20000"/>
          </a:bodyPr>
          <a:lstStyle/>
          <a:p>
            <a:pPr>
              <a:defRPr sz="1950" b="1">
                <a:solidFill>
                  <a:srgbClr val="0B1220"/>
                </a:solidFill>
                <a:latin typeface="Arial"/>
                <a:ea typeface="Arial"/>
                <a:cs typeface="Arial"/>
              </a:defRPr>
            </a:pPr>
            <a:r>
              <a:rPr lang="en-US" sz="1950" b="1" dirty="0">
                <a:solidFill>
                  <a:srgbClr val="0B1220"/>
                </a:solidFill>
                <a:latin typeface="Arial"/>
                <a:ea typeface="Arial"/>
                <a:cs typeface="Arial"/>
              </a:rPr>
              <a:t>Evidence shown</a:t>
            </a:r>
            <a:endParaRPr sz="1950" b="1" dirty="0">
              <a:solidFill>
                <a:srgbClr val="0B1220"/>
              </a:solidFill>
              <a:latin typeface="Arial"/>
              <a:ea typeface="Arial"/>
              <a:cs typeface="Arial"/>
            </a:endParaRPr>
          </a:p>
        </p:txBody>
      </p:sp>
      <p:sp>
        <p:nvSpPr>
          <p:cNvPr id="7" name="Rectangle 6">
            <a:extLst>
              <a:ext uri="{FF2B5EF4-FFF2-40B4-BE49-F238E27FC236}">
                <a16:creationId xmlns:a16="http://schemas.microsoft.com/office/drawing/2014/main" id="{23C12BFA-8E1D-461C-8C65-9645FA7C02FD}"/>
              </a:ext>
            </a:extLst>
          </p:cNvPr>
          <p:cNvSpPr>
            <a:spLocks noGrp="1"/>
          </p:cNvSpPr>
          <p:nvPr/>
        </p:nvSpPr>
        <p:spPr>
          <a:xfrm>
            <a:off x="7033845" y="2407417"/>
            <a:ext cx="4710270" cy="3333750"/>
          </a:xfrm>
          <a:prstGeom prst="rect">
            <a:avLst/>
          </a:prstGeom>
          <a:noFill/>
          <a:ln w="0">
            <a:noFill/>
            <a:prstDash val="solid"/>
          </a:ln>
        </p:spPr>
        <p:txBody>
          <a:bodyPr anchor="t">
            <a:normAutofit/>
          </a:bodyPr>
          <a:lstStyle/>
          <a:p>
            <a:pPr>
              <a:defRPr sz="1650" b="0">
                <a:solidFill>
                  <a:srgbClr val="4B5563"/>
                </a:solidFill>
                <a:latin typeface="Arial"/>
                <a:ea typeface="Arial"/>
                <a:cs typeface="Arial"/>
              </a:defRPr>
            </a:pPr>
            <a:r>
              <a:rPr lang="en-US" sz="1650" dirty="0">
                <a:solidFill>
                  <a:srgbClr val="4B5563"/>
                </a:solidFill>
                <a:latin typeface="Arial"/>
                <a:ea typeface="Arial"/>
                <a:cs typeface="Arial"/>
              </a:rPr>
              <a:t>1. Queue message received by the Logic App</a:t>
            </a:r>
          </a:p>
          <a:p>
            <a:pPr>
              <a:defRPr sz="1650" b="0">
                <a:solidFill>
                  <a:srgbClr val="4B5563"/>
                </a:solidFill>
                <a:latin typeface="Arial"/>
                <a:ea typeface="Arial"/>
                <a:cs typeface="Arial"/>
              </a:defRPr>
            </a:pPr>
            <a:r>
              <a:rPr lang="en-US" sz="1650" dirty="0">
                <a:solidFill>
                  <a:srgbClr val="4B5563"/>
                </a:solidFill>
                <a:latin typeface="Arial"/>
                <a:ea typeface="Arial"/>
                <a:cs typeface="Arial"/>
              </a:rPr>
              <a:t>2. Azure Function validated the request</a:t>
            </a:r>
          </a:p>
          <a:p>
            <a:pPr>
              <a:defRPr sz="1650" b="0">
                <a:solidFill>
                  <a:srgbClr val="4B5563"/>
                </a:solidFill>
                <a:latin typeface="Arial"/>
                <a:ea typeface="Arial"/>
                <a:cs typeface="Arial"/>
              </a:defRPr>
            </a:pPr>
            <a:r>
              <a:rPr lang="en-US" sz="1650" dirty="0">
                <a:solidFill>
                  <a:srgbClr val="4B5563"/>
                </a:solidFill>
                <a:latin typeface="Arial"/>
                <a:ea typeface="Arial"/>
                <a:cs typeface="Arial"/>
              </a:rPr>
              <a:t>3. Under-$100 requests were auto-approved</a:t>
            </a:r>
          </a:p>
          <a:p>
            <a:pPr>
              <a:defRPr sz="1650" b="0">
                <a:solidFill>
                  <a:srgbClr val="4B5563"/>
                </a:solidFill>
                <a:latin typeface="Arial"/>
                <a:ea typeface="Arial"/>
                <a:cs typeface="Arial"/>
              </a:defRPr>
            </a:pPr>
            <a:r>
              <a:rPr lang="en-US" sz="1650" dirty="0">
                <a:solidFill>
                  <a:srgbClr val="4B5563"/>
                </a:solidFill>
                <a:latin typeface="Arial"/>
                <a:ea typeface="Arial"/>
                <a:cs typeface="Arial"/>
              </a:rPr>
              <a:t>4. Manager approve and reject paths succeeded</a:t>
            </a:r>
          </a:p>
          <a:p>
            <a:pPr>
              <a:defRPr sz="1650" b="0">
                <a:solidFill>
                  <a:srgbClr val="4B5563"/>
                </a:solidFill>
                <a:latin typeface="Arial"/>
                <a:ea typeface="Arial"/>
                <a:cs typeface="Arial"/>
              </a:defRPr>
            </a:pPr>
            <a:r>
              <a:rPr lang="en-US" sz="1650" dirty="0">
                <a:solidFill>
                  <a:srgbClr val="4B5563"/>
                </a:solidFill>
                <a:latin typeface="Arial"/>
                <a:ea typeface="Arial"/>
                <a:cs typeface="Arial"/>
              </a:rPr>
              <a:t>5. Timeout created an escalated result</a:t>
            </a:r>
          </a:p>
          <a:p>
            <a:pPr>
              <a:defRPr sz="1650" b="0">
                <a:solidFill>
                  <a:srgbClr val="4B5563"/>
                </a:solidFill>
                <a:latin typeface="Arial"/>
                <a:ea typeface="Arial"/>
                <a:cs typeface="Arial"/>
              </a:defRPr>
            </a:pPr>
            <a:r>
              <a:rPr lang="en-US" sz="1650" dirty="0">
                <a:solidFill>
                  <a:srgbClr val="4B5563"/>
                </a:solidFill>
                <a:latin typeface="Arial"/>
                <a:ea typeface="Arial"/>
                <a:cs typeface="Arial"/>
              </a:rPr>
              <a:t>6. Invalid input returned a validation error</a:t>
            </a:r>
            <a:endParaRPr sz="1650" b="0" dirty="0">
              <a:solidFill>
                <a:srgbClr val="4B5563"/>
              </a:solidFill>
              <a:latin typeface="Arial"/>
              <a:ea typeface="Arial"/>
              <a:cs typeface="Arial"/>
            </a:endParaRPr>
          </a:p>
        </p:txBody>
      </p:sp>
      <p:pic>
        <p:nvPicPr>
          <p:cNvPr id="10" name="Picture 9">
            <a:extLst>
              <a:ext uri="{FF2B5EF4-FFF2-40B4-BE49-F238E27FC236}">
                <a16:creationId xmlns:a16="http://schemas.microsoft.com/office/drawing/2014/main" id="{B1C8C43A-E21A-C6F8-8DFE-D369C024F3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2262" y="1614434"/>
            <a:ext cx="5751727" cy="4919716"/>
          </a:xfrm>
          <a:prstGeom prst="rect">
            <a:avLst/>
          </a:prstGeom>
        </p:spPr>
      </p:pic>
    </p:spTree>
    <p:extLst>
      <p:ext uri="{BB962C8B-B14F-4D97-AF65-F5344CB8AC3E}">
        <p14:creationId xmlns:p14="http://schemas.microsoft.com/office/powerpoint/2010/main" val="1941703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753DE3-B175-0FE8-89A9-AE81BDFA48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8365" y="351693"/>
            <a:ext cx="5879321" cy="4752870"/>
          </a:xfrm>
          <a:prstGeom prst="rect">
            <a:avLst/>
          </a:prstGeom>
        </p:spPr>
      </p:pic>
      <p:pic>
        <p:nvPicPr>
          <p:cNvPr id="5" name="Picture 4">
            <a:extLst>
              <a:ext uri="{FF2B5EF4-FFF2-40B4-BE49-F238E27FC236}">
                <a16:creationId xmlns:a16="http://schemas.microsoft.com/office/drawing/2014/main" id="{8DF5D549-48DF-201F-CD66-0FC0C7A2EF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1114" y="351693"/>
            <a:ext cx="6550055" cy="4853354"/>
          </a:xfrm>
          <a:prstGeom prst="rect">
            <a:avLst/>
          </a:prstGeom>
        </p:spPr>
      </p:pic>
      <p:sp>
        <p:nvSpPr>
          <p:cNvPr id="6" name="TextBox 5">
            <a:extLst>
              <a:ext uri="{FF2B5EF4-FFF2-40B4-BE49-F238E27FC236}">
                <a16:creationId xmlns:a16="http://schemas.microsoft.com/office/drawing/2014/main" id="{7C83688D-632D-CB57-14A4-8AAE29B467DB}"/>
              </a:ext>
            </a:extLst>
          </p:cNvPr>
          <p:cNvSpPr txBox="1"/>
          <p:nvPr/>
        </p:nvSpPr>
        <p:spPr>
          <a:xfrm>
            <a:off x="2281884" y="5519002"/>
            <a:ext cx="2552281" cy="369332"/>
          </a:xfrm>
          <a:prstGeom prst="rect">
            <a:avLst/>
          </a:prstGeom>
          <a:noFill/>
        </p:spPr>
        <p:txBody>
          <a:bodyPr wrap="square" rtlCol="0">
            <a:spAutoFit/>
          </a:bodyPr>
          <a:lstStyle/>
          <a:p>
            <a:r>
              <a:rPr lang="en-US" altLang="zh-CN" dirty="0"/>
              <a:t>Auto-approved</a:t>
            </a:r>
            <a:endParaRPr lang="zh-CN" altLang="en-US" dirty="0"/>
          </a:p>
        </p:txBody>
      </p:sp>
      <p:sp>
        <p:nvSpPr>
          <p:cNvPr id="8" name="TextBox 7">
            <a:extLst>
              <a:ext uri="{FF2B5EF4-FFF2-40B4-BE49-F238E27FC236}">
                <a16:creationId xmlns:a16="http://schemas.microsoft.com/office/drawing/2014/main" id="{14D35611-FC29-3F65-3D47-012130995C30}"/>
              </a:ext>
            </a:extLst>
          </p:cNvPr>
          <p:cNvSpPr txBox="1"/>
          <p:nvPr/>
        </p:nvSpPr>
        <p:spPr>
          <a:xfrm>
            <a:off x="7780007" y="5519002"/>
            <a:ext cx="2552281" cy="369332"/>
          </a:xfrm>
          <a:prstGeom prst="rect">
            <a:avLst/>
          </a:prstGeom>
          <a:noFill/>
        </p:spPr>
        <p:txBody>
          <a:bodyPr wrap="square" rtlCol="0">
            <a:spAutoFit/>
          </a:bodyPr>
          <a:lstStyle/>
          <a:p>
            <a:r>
              <a:rPr lang="en-US" altLang="zh-CN" dirty="0"/>
              <a:t>Manager approved</a:t>
            </a:r>
            <a:endParaRPr lang="zh-CN" altLang="en-US" dirty="0"/>
          </a:p>
        </p:txBody>
      </p:sp>
    </p:spTree>
    <p:extLst>
      <p:ext uri="{BB962C8B-B14F-4D97-AF65-F5344CB8AC3E}">
        <p14:creationId xmlns:p14="http://schemas.microsoft.com/office/powerpoint/2010/main" val="1812331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BAB08B-E16A-9300-0438-CF774D61AA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4231" y="633045"/>
            <a:ext cx="4864159" cy="4551903"/>
          </a:xfrm>
          <a:prstGeom prst="rect">
            <a:avLst/>
          </a:prstGeom>
        </p:spPr>
      </p:pic>
      <p:pic>
        <p:nvPicPr>
          <p:cNvPr id="5" name="Picture 4">
            <a:extLst>
              <a:ext uri="{FF2B5EF4-FFF2-40B4-BE49-F238E27FC236}">
                <a16:creationId xmlns:a16="http://schemas.microsoft.com/office/drawing/2014/main" id="{B30DA930-04C8-D575-52D4-E8EA5C365C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40677"/>
            <a:ext cx="5925506" cy="5358403"/>
          </a:xfrm>
          <a:prstGeom prst="rect">
            <a:avLst/>
          </a:prstGeom>
        </p:spPr>
      </p:pic>
      <p:sp>
        <p:nvSpPr>
          <p:cNvPr id="7" name="TextBox 6">
            <a:extLst>
              <a:ext uri="{FF2B5EF4-FFF2-40B4-BE49-F238E27FC236}">
                <a16:creationId xmlns:a16="http://schemas.microsoft.com/office/drawing/2014/main" id="{2627BE17-B239-6E31-15CA-31BCA6A50E2C}"/>
              </a:ext>
            </a:extLst>
          </p:cNvPr>
          <p:cNvSpPr txBox="1"/>
          <p:nvPr/>
        </p:nvSpPr>
        <p:spPr>
          <a:xfrm>
            <a:off x="2281884" y="5519002"/>
            <a:ext cx="2552281" cy="369332"/>
          </a:xfrm>
          <a:prstGeom prst="rect">
            <a:avLst/>
          </a:prstGeom>
          <a:noFill/>
        </p:spPr>
        <p:txBody>
          <a:bodyPr wrap="square" rtlCol="0">
            <a:spAutoFit/>
          </a:bodyPr>
          <a:lstStyle/>
          <a:p>
            <a:r>
              <a:rPr lang="en-US" altLang="zh-CN" dirty="0"/>
              <a:t>Manager rejected</a:t>
            </a:r>
            <a:endParaRPr lang="zh-CN" altLang="en-US" dirty="0"/>
          </a:p>
        </p:txBody>
      </p:sp>
      <p:sp>
        <p:nvSpPr>
          <p:cNvPr id="9" name="TextBox 8">
            <a:extLst>
              <a:ext uri="{FF2B5EF4-FFF2-40B4-BE49-F238E27FC236}">
                <a16:creationId xmlns:a16="http://schemas.microsoft.com/office/drawing/2014/main" id="{CE755096-294F-99A6-03FB-636642F8F5A9}"/>
              </a:ext>
            </a:extLst>
          </p:cNvPr>
          <p:cNvSpPr txBox="1"/>
          <p:nvPr/>
        </p:nvSpPr>
        <p:spPr>
          <a:xfrm>
            <a:off x="7157009" y="5703668"/>
            <a:ext cx="2552281" cy="369332"/>
          </a:xfrm>
          <a:prstGeom prst="rect">
            <a:avLst/>
          </a:prstGeom>
          <a:noFill/>
        </p:spPr>
        <p:txBody>
          <a:bodyPr wrap="square" rtlCol="0">
            <a:spAutoFit/>
          </a:bodyPr>
          <a:lstStyle/>
          <a:p>
            <a:r>
              <a:rPr lang="en-US" altLang="zh-CN" dirty="0"/>
              <a:t>Topic subscriptions</a:t>
            </a:r>
            <a:endParaRPr lang="zh-CN" altLang="en-US" dirty="0"/>
          </a:p>
        </p:txBody>
      </p:sp>
    </p:spTree>
    <p:extLst>
      <p:ext uri="{BB962C8B-B14F-4D97-AF65-F5344CB8AC3E}">
        <p14:creationId xmlns:p14="http://schemas.microsoft.com/office/powerpoint/2010/main" val="3698977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5E24F1-DE5A-428B-B903-F28BA098F652}"/>
              </a:ext>
            </a:extLst>
          </p:cNvPr>
          <p:cNvSpPr>
            <a:spLocks noGrp="1"/>
          </p:cNvSpPr>
          <p:nvPr/>
        </p:nvSpPr>
        <p:spPr>
          <a:xfrm>
            <a:off x="533400" y="323850"/>
            <a:ext cx="3143250" cy="266700"/>
          </a:xfrm>
          <a:prstGeom prst="rect">
            <a:avLst/>
          </a:prstGeom>
          <a:noFill/>
          <a:ln w="0">
            <a:noFill/>
            <a:prstDash val="solid"/>
          </a:ln>
        </p:spPr>
        <p:txBody>
          <a:bodyPr anchor="t">
            <a:normAutofit/>
          </a:bodyPr>
          <a:lstStyle/>
          <a:p>
            <a:pPr algn="l">
              <a:defRPr sz="1125" b="1">
                <a:solidFill>
                  <a:srgbClr val="2F80ED"/>
                </a:solidFill>
                <a:latin typeface="Arial"/>
                <a:ea typeface="Arial"/>
                <a:cs typeface="Arial"/>
              </a:defRPr>
            </a:pPr>
            <a:r>
              <a:rPr sz="1125" b="1">
                <a:solidFill>
                  <a:srgbClr val="2F80ED"/>
                </a:solidFill>
                <a:latin typeface="Arial"/>
                <a:ea typeface="Arial"/>
                <a:cs typeface="Arial"/>
              </a:rPr>
              <a:t>SIX-PART COMPARISON</a:t>
            </a:r>
          </a:p>
        </p:txBody>
      </p:sp>
      <p:sp>
        <p:nvSpPr>
          <p:cNvPr id="2" name="slide-9-title">
            <a:extLst>
              <a:ext uri="{FF2B5EF4-FFF2-40B4-BE49-F238E27FC236}">
                <a16:creationId xmlns:a16="http://schemas.microsoft.com/office/drawing/2014/main" id="{EC669847-0196-43ED-9FC9-5AF600BC7310}"/>
              </a:ext>
            </a:extLst>
          </p:cNvPr>
          <p:cNvSpPr>
            <a:spLocks noGrp="1"/>
          </p:cNvSpPr>
          <p:nvPr/>
        </p:nvSpPr>
        <p:spPr>
          <a:xfrm>
            <a:off x="533400" y="628650"/>
            <a:ext cx="10763250" cy="742950"/>
          </a:xfrm>
          <a:prstGeom prst="rect">
            <a:avLst/>
          </a:prstGeom>
          <a:noFill/>
          <a:ln w="0">
            <a:noFill/>
            <a:prstDash val="solid"/>
          </a:ln>
        </p:spPr>
        <p:txBody>
          <a:bodyPr anchor="t">
            <a:normAutofit/>
          </a:bodyPr>
          <a:lstStyle/>
          <a:p>
            <a:pPr algn="l">
              <a:defRPr sz="2925" b="1">
                <a:solidFill>
                  <a:srgbClr val="0B1220"/>
                </a:solidFill>
                <a:latin typeface="Arial"/>
                <a:ea typeface="Arial"/>
                <a:cs typeface="Arial"/>
              </a:defRPr>
            </a:pPr>
            <a:r>
              <a:rPr sz="2925" b="1">
                <a:solidFill>
                  <a:srgbClr val="0B1220"/>
                </a:solidFill>
                <a:latin typeface="Arial"/>
                <a:ea typeface="Arial"/>
                <a:cs typeface="Arial"/>
              </a:rPr>
              <a:t>The best tool changes by dimension</a:t>
            </a:r>
          </a:p>
        </p:txBody>
      </p:sp>
      <p:sp>
        <p:nvSpPr>
          <p:cNvPr id="3" name="Rectangle 2">
            <a:extLst>
              <a:ext uri="{FF2B5EF4-FFF2-40B4-BE49-F238E27FC236}">
                <a16:creationId xmlns:a16="http://schemas.microsoft.com/office/drawing/2014/main" id="{F2525E96-6917-49E0-8364-0AD42509455D}"/>
              </a:ext>
            </a:extLst>
          </p:cNvPr>
          <p:cNvSpPr>
            <a:spLocks noGrp="1"/>
          </p:cNvSpPr>
          <p:nvPr/>
        </p:nvSpPr>
        <p:spPr>
          <a:xfrm>
            <a:off x="533400" y="1409700"/>
            <a:ext cx="11125200" cy="19050"/>
          </a:xfrm>
          <a:prstGeom prst="rect">
            <a:avLst/>
          </a:prstGeom>
          <a:solidFill>
            <a:srgbClr val="B8BCC4"/>
          </a:solidFill>
          <a:ln w="0">
            <a:solidFill>
              <a:srgbClr val="B8BCC4"/>
            </a:solidFill>
            <a:prstDash val="solid"/>
          </a:ln>
        </p:spPr>
        <p:txBody>
          <a:bodyPr/>
          <a:lstStyle/>
          <a:p>
            <a:endParaRPr lang="zh-CN" altLang="en-US"/>
          </a:p>
        </p:txBody>
      </p:sp>
      <p:sp>
        <p:nvSpPr>
          <p:cNvPr id="4" name="Rectangle 3">
            <a:extLst>
              <a:ext uri="{FF2B5EF4-FFF2-40B4-BE49-F238E27FC236}">
                <a16:creationId xmlns:a16="http://schemas.microsoft.com/office/drawing/2014/main" id="{8F39B14A-4A81-4118-BE8F-DE8C5DB18DE0}"/>
              </a:ext>
            </a:extLst>
          </p:cNvPr>
          <p:cNvSpPr>
            <a:spLocks noGrp="1"/>
          </p:cNvSpPr>
          <p:nvPr/>
        </p:nvSpPr>
        <p:spPr>
          <a:xfrm>
            <a:off x="11191875" y="6419850"/>
            <a:ext cx="457200" cy="190500"/>
          </a:xfrm>
          <a:prstGeom prst="rect">
            <a:avLst/>
          </a:prstGeom>
          <a:noFill/>
          <a:ln w="0">
            <a:noFill/>
            <a:prstDash val="solid"/>
          </a:ln>
        </p:spPr>
        <p:txBody>
          <a:bodyPr anchor="t">
            <a:normAutofit fontScale="87222" lnSpcReduction="20000"/>
          </a:bodyPr>
          <a:lstStyle/>
          <a:p>
            <a:pPr algn="r">
              <a:defRPr sz="900" b="0">
                <a:solidFill>
                  <a:srgbClr val="4B5563"/>
                </a:solidFill>
                <a:latin typeface="Arial"/>
                <a:ea typeface="Arial"/>
                <a:cs typeface="Arial"/>
              </a:defRPr>
            </a:pPr>
            <a:r>
              <a:rPr sz="900" b="0">
                <a:solidFill>
                  <a:srgbClr val="4B5563"/>
                </a:solidFill>
                <a:latin typeface="Arial"/>
                <a:ea typeface="Arial"/>
                <a:cs typeface="Arial"/>
              </a:rPr>
              <a:t>09</a:t>
            </a:r>
          </a:p>
        </p:txBody>
      </p:sp>
      <p:graphicFrame>
        <p:nvGraphicFramePr>
          <p:cNvPr id="11" name="Table 10"/>
          <p:cNvGraphicFramePr/>
          <p:nvPr/>
        </p:nvGraphicFramePr>
        <p:xfrm>
          <a:off x="552450" y="1762125"/>
          <a:ext cx="11068050" cy="4143377"/>
        </p:xfrm>
        <a:graphic>
          <a:graphicData uri="http://schemas.openxmlformats.org/drawingml/2006/table">
            <a:tbl>
              <a:tblPr firstRow="1" bandRow="1"/>
              <a:tblGrid>
                <a:gridCol w="2095500">
                  <a:extLst>
                    <a:ext uri="{9D8B030D-6E8A-4147-A177-3AD203B41FA5}">
                      <a16:colId xmlns:a16="http://schemas.microsoft.com/office/drawing/2014/main" val="20000"/>
                    </a:ext>
                  </a:extLst>
                </a:gridCol>
                <a:gridCol w="4238625">
                  <a:extLst>
                    <a:ext uri="{9D8B030D-6E8A-4147-A177-3AD203B41FA5}">
                      <a16:colId xmlns:a16="http://schemas.microsoft.com/office/drawing/2014/main" val="20001"/>
                    </a:ext>
                  </a:extLst>
                </a:gridCol>
                <a:gridCol w="4733925">
                  <a:extLst>
                    <a:ext uri="{9D8B030D-6E8A-4147-A177-3AD203B41FA5}">
                      <a16:colId xmlns:a16="http://schemas.microsoft.com/office/drawing/2014/main" val="20002"/>
                    </a:ext>
                  </a:extLst>
                </a:gridCol>
              </a:tblGrid>
              <a:tr h="591911">
                <a:tc>
                  <a:txBody>
                    <a:bodyPr/>
                    <a:lstStyle/>
                    <a:p>
                      <a:r>
                        <a:rPr sz="1275" b="1">
                          <a:solidFill>
                            <a:srgbClr val="FFFFFF"/>
                          </a:solidFill>
                          <a:latin typeface="Arial"/>
                          <a:ea typeface="Arial"/>
                          <a:cs typeface="Arial"/>
                        </a:rPr>
                        <a:t>Dimension</a:t>
                      </a:r>
                    </a:p>
                  </a:txBody>
                  <a:tcPr>
                    <a:solidFill>
                      <a:srgbClr val="0B1220"/>
                    </a:solidFill>
                  </a:tcPr>
                </a:tc>
                <a:tc>
                  <a:txBody>
                    <a:bodyPr/>
                    <a:lstStyle/>
                    <a:p>
                      <a:r>
                        <a:rPr sz="1275" b="1">
                          <a:solidFill>
                            <a:srgbClr val="FFFFFF"/>
                          </a:solidFill>
                          <a:latin typeface="Arial"/>
                          <a:ea typeface="Arial"/>
                          <a:cs typeface="Arial"/>
                        </a:rPr>
                        <a:t>Durable Functions</a:t>
                      </a:r>
                    </a:p>
                  </a:txBody>
                  <a:tcPr>
                    <a:solidFill>
                      <a:srgbClr val="0B1220"/>
                    </a:solidFill>
                  </a:tcPr>
                </a:tc>
                <a:tc>
                  <a:txBody>
                    <a:bodyPr/>
                    <a:lstStyle/>
                    <a:p>
                      <a:r>
                        <a:rPr sz="1275" b="1">
                          <a:solidFill>
                            <a:srgbClr val="FFFFFF"/>
                          </a:solidFill>
                          <a:latin typeface="Arial"/>
                          <a:ea typeface="Arial"/>
                          <a:cs typeface="Arial"/>
                        </a:rPr>
                        <a:t>Logic Apps + Service Bus</a:t>
                      </a:r>
                    </a:p>
                  </a:txBody>
                  <a:tcPr>
                    <a:solidFill>
                      <a:srgbClr val="0B1220"/>
                    </a:solidFill>
                  </a:tcPr>
                </a:tc>
                <a:extLst>
                  <a:ext uri="{0D108BD9-81ED-4DB2-BD59-A6C34878D82A}">
                    <a16:rowId xmlns:a16="http://schemas.microsoft.com/office/drawing/2014/main" val="10000"/>
                  </a:ext>
                </a:extLst>
              </a:tr>
              <a:tr h="591911">
                <a:tc>
                  <a:txBody>
                    <a:bodyPr/>
                    <a:lstStyle/>
                    <a:p>
                      <a:r>
                        <a:rPr sz="1275" b="1">
                          <a:solidFill>
                            <a:srgbClr val="0B1220"/>
                          </a:solidFill>
                          <a:latin typeface="Arial"/>
                          <a:ea typeface="Arial"/>
                          <a:cs typeface="Arial"/>
                        </a:rPr>
                        <a:t>Development</a:t>
                      </a:r>
                    </a:p>
                  </a:txBody>
                  <a:tcPr>
                    <a:solidFill>
                      <a:srgbClr val="EEF2F6"/>
                    </a:solidFill>
                  </a:tcPr>
                </a:tc>
                <a:tc>
                  <a:txBody>
                    <a:bodyPr/>
                    <a:lstStyle/>
                    <a:p>
                      <a:r>
                        <a:rPr sz="1200">
                          <a:solidFill>
                            <a:srgbClr val="0B1220"/>
                          </a:solidFill>
                          <a:latin typeface="Arial"/>
                          <a:ea typeface="Arial"/>
                          <a:cs typeface="Arial"/>
                        </a:rPr>
                        <a:t>More code; clearer complex logic</a:t>
                      </a:r>
                    </a:p>
                  </a:txBody>
                  <a:tcPr/>
                </a:tc>
                <a:tc>
                  <a:txBody>
                    <a:bodyPr/>
                    <a:lstStyle/>
                    <a:p>
                      <a:r>
                        <a:rPr sz="1200">
                          <a:solidFill>
                            <a:srgbClr val="0B1220"/>
                          </a:solidFill>
                          <a:latin typeface="Arial"/>
                          <a:ea typeface="Arial"/>
                          <a:cs typeface="Arial"/>
                        </a:rPr>
                        <a:t>Faster connector setup</a:t>
                      </a:r>
                    </a:p>
                  </a:txBody>
                  <a:tcPr/>
                </a:tc>
                <a:extLst>
                  <a:ext uri="{0D108BD9-81ED-4DB2-BD59-A6C34878D82A}">
                    <a16:rowId xmlns:a16="http://schemas.microsoft.com/office/drawing/2014/main" val="10001"/>
                  </a:ext>
                </a:extLst>
              </a:tr>
              <a:tr h="591911">
                <a:tc>
                  <a:txBody>
                    <a:bodyPr/>
                    <a:lstStyle/>
                    <a:p>
                      <a:r>
                        <a:rPr sz="1275" b="1">
                          <a:solidFill>
                            <a:srgbClr val="0B1220"/>
                          </a:solidFill>
                          <a:latin typeface="Arial"/>
                          <a:ea typeface="Arial"/>
                          <a:cs typeface="Arial"/>
                        </a:rPr>
                        <a:t>Testability</a:t>
                      </a:r>
                    </a:p>
                  </a:txBody>
                  <a:tcPr>
                    <a:solidFill>
                      <a:srgbClr val="EEF2F6"/>
                    </a:solidFill>
                  </a:tcPr>
                </a:tc>
                <a:tc>
                  <a:txBody>
                    <a:bodyPr/>
                    <a:lstStyle/>
                    <a:p>
                      <a:r>
                        <a:rPr sz="1200">
                          <a:solidFill>
                            <a:srgbClr val="0B1220"/>
                          </a:solidFill>
                          <a:latin typeface="Arial"/>
                          <a:ea typeface="Arial"/>
                          <a:cs typeface="Arial"/>
                        </a:rPr>
                        <a:t>Strong local + automated testing</a:t>
                      </a:r>
                    </a:p>
                  </a:txBody>
                  <a:tcPr/>
                </a:tc>
                <a:tc>
                  <a:txBody>
                    <a:bodyPr/>
                    <a:lstStyle/>
                    <a:p>
                      <a:r>
                        <a:rPr sz="1200">
                          <a:solidFill>
                            <a:srgbClr val="0B1220"/>
                          </a:solidFill>
                          <a:latin typeface="Arial"/>
                          <a:ea typeface="Arial"/>
                          <a:cs typeface="Arial"/>
                        </a:rPr>
                        <a:t>Full path needs Azure resources</a:t>
                      </a:r>
                    </a:p>
                  </a:txBody>
                  <a:tcPr/>
                </a:tc>
                <a:extLst>
                  <a:ext uri="{0D108BD9-81ED-4DB2-BD59-A6C34878D82A}">
                    <a16:rowId xmlns:a16="http://schemas.microsoft.com/office/drawing/2014/main" val="10002"/>
                  </a:ext>
                </a:extLst>
              </a:tr>
              <a:tr h="591911">
                <a:tc>
                  <a:txBody>
                    <a:bodyPr/>
                    <a:lstStyle/>
                    <a:p>
                      <a:r>
                        <a:rPr sz="1275" b="1">
                          <a:solidFill>
                            <a:srgbClr val="0B1220"/>
                          </a:solidFill>
                          <a:latin typeface="Arial"/>
                          <a:ea typeface="Arial"/>
                          <a:cs typeface="Arial"/>
                        </a:rPr>
                        <a:t>Error handling</a:t>
                      </a:r>
                    </a:p>
                  </a:txBody>
                  <a:tcPr>
                    <a:solidFill>
                      <a:srgbClr val="EEF2F6"/>
                    </a:solidFill>
                  </a:tcPr>
                </a:tc>
                <a:tc>
                  <a:txBody>
                    <a:bodyPr/>
                    <a:lstStyle/>
                    <a:p>
                      <a:r>
                        <a:rPr sz="1200">
                          <a:solidFill>
                            <a:srgbClr val="0B1220"/>
                          </a:solidFill>
                          <a:latin typeface="Arial"/>
                          <a:ea typeface="Arial"/>
                          <a:cs typeface="Arial"/>
                        </a:rPr>
                        <a:t>Precise retries and recovery in code</a:t>
                      </a:r>
                    </a:p>
                  </a:txBody>
                  <a:tcPr/>
                </a:tc>
                <a:tc>
                  <a:txBody>
                    <a:bodyPr/>
                    <a:lstStyle/>
                    <a:p>
                      <a:r>
                        <a:rPr sz="1200">
                          <a:solidFill>
                            <a:srgbClr val="0B1220"/>
                          </a:solidFill>
                          <a:latin typeface="Arial"/>
                          <a:ea typeface="Arial"/>
                          <a:cs typeface="Arial"/>
                        </a:rPr>
                        <a:t>Built-in retry and run-after</a:t>
                      </a:r>
                    </a:p>
                  </a:txBody>
                  <a:tcPr/>
                </a:tc>
                <a:extLst>
                  <a:ext uri="{0D108BD9-81ED-4DB2-BD59-A6C34878D82A}">
                    <a16:rowId xmlns:a16="http://schemas.microsoft.com/office/drawing/2014/main" val="10003"/>
                  </a:ext>
                </a:extLst>
              </a:tr>
              <a:tr h="591911">
                <a:tc>
                  <a:txBody>
                    <a:bodyPr/>
                    <a:lstStyle/>
                    <a:p>
                      <a:r>
                        <a:rPr sz="1275" b="1">
                          <a:solidFill>
                            <a:srgbClr val="0B1220"/>
                          </a:solidFill>
                          <a:latin typeface="Arial"/>
                          <a:ea typeface="Arial"/>
                          <a:cs typeface="Arial"/>
                        </a:rPr>
                        <a:t>Human interaction</a:t>
                      </a:r>
                    </a:p>
                  </a:txBody>
                  <a:tcPr>
                    <a:solidFill>
                      <a:srgbClr val="EEF2F6"/>
                    </a:solidFill>
                  </a:tcPr>
                </a:tc>
                <a:tc>
                  <a:txBody>
                    <a:bodyPr/>
                    <a:lstStyle/>
                    <a:p>
                      <a:r>
                        <a:rPr sz="1200">
                          <a:solidFill>
                            <a:srgbClr val="0B1220"/>
                          </a:solidFill>
                          <a:latin typeface="Arial"/>
                          <a:ea typeface="Arial"/>
                          <a:cs typeface="Arial"/>
                        </a:rPr>
                        <a:t>Natural event-versus-timer race</a:t>
                      </a:r>
                    </a:p>
                  </a:txBody>
                  <a:tcPr/>
                </a:tc>
                <a:tc>
                  <a:txBody>
                    <a:bodyPr/>
                    <a:lstStyle/>
                    <a:p>
                      <a:r>
                        <a:rPr sz="1200">
                          <a:solidFill>
                            <a:srgbClr val="0B1220"/>
                          </a:solidFill>
                          <a:latin typeface="Arial"/>
                          <a:ea typeface="Arial"/>
                          <a:cs typeface="Arial"/>
                        </a:rPr>
                        <a:t>Approval connector + timeout scope</a:t>
                      </a:r>
                    </a:p>
                  </a:txBody>
                  <a:tcPr/>
                </a:tc>
                <a:extLst>
                  <a:ext uri="{0D108BD9-81ED-4DB2-BD59-A6C34878D82A}">
                    <a16:rowId xmlns:a16="http://schemas.microsoft.com/office/drawing/2014/main" val="10004"/>
                  </a:ext>
                </a:extLst>
              </a:tr>
              <a:tr h="591911">
                <a:tc>
                  <a:txBody>
                    <a:bodyPr/>
                    <a:lstStyle/>
                    <a:p>
                      <a:r>
                        <a:rPr sz="1275" b="1">
                          <a:solidFill>
                            <a:srgbClr val="0B1220"/>
                          </a:solidFill>
                          <a:latin typeface="Arial"/>
                          <a:ea typeface="Arial"/>
                          <a:cs typeface="Arial"/>
                        </a:rPr>
                        <a:t>Observability</a:t>
                      </a:r>
                    </a:p>
                  </a:txBody>
                  <a:tcPr>
                    <a:solidFill>
                      <a:srgbClr val="EEF2F6"/>
                    </a:solidFill>
                  </a:tcPr>
                </a:tc>
                <a:tc>
                  <a:txBody>
                    <a:bodyPr/>
                    <a:lstStyle/>
                    <a:p>
                      <a:r>
                        <a:rPr sz="1200">
                          <a:solidFill>
                            <a:srgbClr val="0B1220"/>
                          </a:solidFill>
                          <a:latin typeface="Arial"/>
                          <a:ea typeface="Arial"/>
                          <a:cs typeface="Arial"/>
                        </a:rPr>
                        <a:t>Custom telemetry; correlate by instance ID</a:t>
                      </a:r>
                    </a:p>
                  </a:txBody>
                  <a:tcPr/>
                </a:tc>
                <a:tc>
                  <a:txBody>
                    <a:bodyPr/>
                    <a:lstStyle/>
                    <a:p>
                      <a:r>
                        <a:rPr sz="1200">
                          <a:solidFill>
                            <a:srgbClr val="0B1220"/>
                          </a:solidFill>
                          <a:latin typeface="Arial"/>
                          <a:ea typeface="Arial"/>
                          <a:cs typeface="Arial"/>
                        </a:rPr>
                        <a:t>Best visual run history</a:t>
                      </a:r>
                    </a:p>
                  </a:txBody>
                  <a:tcPr/>
                </a:tc>
                <a:extLst>
                  <a:ext uri="{0D108BD9-81ED-4DB2-BD59-A6C34878D82A}">
                    <a16:rowId xmlns:a16="http://schemas.microsoft.com/office/drawing/2014/main" val="10005"/>
                  </a:ext>
                </a:extLst>
              </a:tr>
              <a:tr h="591911">
                <a:tc>
                  <a:txBody>
                    <a:bodyPr/>
                    <a:lstStyle/>
                    <a:p>
                      <a:r>
                        <a:rPr sz="1275" b="1">
                          <a:solidFill>
                            <a:srgbClr val="0B1220"/>
                          </a:solidFill>
                          <a:latin typeface="Arial"/>
                          <a:ea typeface="Arial"/>
                          <a:cs typeface="Arial"/>
                        </a:rPr>
                        <a:t>Cost</a:t>
                      </a:r>
                    </a:p>
                  </a:txBody>
                  <a:tcPr>
                    <a:solidFill>
                      <a:srgbClr val="EEF2F6"/>
                    </a:solidFill>
                  </a:tcPr>
                </a:tc>
                <a:tc>
                  <a:txBody>
                    <a:bodyPr/>
                    <a:lstStyle/>
                    <a:p>
                      <a:r>
                        <a:rPr sz="1200">
                          <a:solidFill>
                            <a:srgbClr val="0B1220"/>
                          </a:solidFill>
                          <a:latin typeface="Arial"/>
                          <a:ea typeface="Arial"/>
                          <a:cs typeface="Arial"/>
                        </a:rPr>
                        <a:t>Low usage cost; storage also matters</a:t>
                      </a:r>
                    </a:p>
                  </a:txBody>
                  <a:tcPr/>
                </a:tc>
                <a:tc>
                  <a:txBody>
                    <a:bodyPr/>
                    <a:lstStyle/>
                    <a:p>
                      <a:r>
                        <a:rPr sz="1200">
                          <a:solidFill>
                            <a:srgbClr val="0B1220"/>
                          </a:solidFill>
                          <a:latin typeface="Arial"/>
                          <a:ea typeface="Arial"/>
                          <a:cs typeface="Arial"/>
                        </a:rPr>
                        <a:t>Fixed Service Bus base + per-action cost</a:t>
                      </a:r>
                    </a:p>
                  </a:txBody>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829C41F7-6B65-4CEE-8173-4F962EB2B4E5}"/>
              </a:ext>
            </a:extLst>
          </p:cNvPr>
          <p:cNvSpPr>
            <a:spLocks noGrp="1"/>
          </p:cNvSpPr>
          <p:nvPr/>
        </p:nvSpPr>
        <p:spPr>
          <a:xfrm>
            <a:off x="552450" y="6115050"/>
            <a:ext cx="10477500" cy="323850"/>
          </a:xfrm>
          <a:prstGeom prst="rect">
            <a:avLst/>
          </a:prstGeom>
          <a:noFill/>
          <a:ln w="0">
            <a:noFill/>
            <a:prstDash val="solid"/>
          </a:ln>
        </p:spPr>
        <p:txBody>
          <a:bodyPr anchor="t">
            <a:normAutofit fontScale="96502"/>
          </a:bodyPr>
          <a:lstStyle/>
          <a:p>
            <a:pPr algn="l">
              <a:defRPr sz="1575" b="1">
                <a:solidFill>
                  <a:srgbClr val="2F80ED"/>
                </a:solidFill>
                <a:latin typeface="Arial"/>
                <a:ea typeface="Arial"/>
                <a:cs typeface="Arial"/>
              </a:defRPr>
            </a:pPr>
            <a:r>
              <a:rPr sz="1575" b="1">
                <a:solidFill>
                  <a:srgbClr val="2F80ED"/>
                </a:solidFill>
                <a:latin typeface="Arial"/>
                <a:ea typeface="Arial"/>
                <a:cs typeface="Arial"/>
              </a:rPr>
              <a:t>Durable Functions leads when logic and testing dominate; Logic Apps leads when integration speed dominates.</a:t>
            </a:r>
          </a:p>
        </p:txBody>
      </p:sp>
    </p:spTree>
    <p:extLst>
      <p:ext uri="{BB962C8B-B14F-4D97-AF65-F5344CB8AC3E}">
        <p14:creationId xmlns:p14="http://schemas.microsoft.com/office/powerpoint/2010/main" val="1390609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B52BC61-447E-4B75-A455-E6AEB502E0A8}"/>
              </a:ext>
            </a:extLst>
          </p:cNvPr>
          <p:cNvSpPr>
            <a:spLocks noGrp="1"/>
          </p:cNvSpPr>
          <p:nvPr/>
        </p:nvSpPr>
        <p:spPr>
          <a:xfrm>
            <a:off x="533400" y="323850"/>
            <a:ext cx="3143250" cy="266700"/>
          </a:xfrm>
          <a:prstGeom prst="rect">
            <a:avLst/>
          </a:prstGeom>
          <a:noFill/>
          <a:ln w="0">
            <a:noFill/>
            <a:prstDash val="solid"/>
          </a:ln>
        </p:spPr>
        <p:txBody>
          <a:bodyPr anchor="t">
            <a:normAutofit/>
          </a:bodyPr>
          <a:lstStyle/>
          <a:p>
            <a:pPr algn="l">
              <a:defRPr sz="1125" b="1">
                <a:solidFill>
                  <a:srgbClr val="2F80ED"/>
                </a:solidFill>
                <a:latin typeface="Arial"/>
                <a:ea typeface="Arial"/>
                <a:cs typeface="Arial"/>
              </a:defRPr>
            </a:pPr>
            <a:r>
              <a:rPr sz="1125" b="1">
                <a:solidFill>
                  <a:srgbClr val="2F80ED"/>
                </a:solidFill>
                <a:latin typeface="Arial"/>
                <a:ea typeface="Arial"/>
                <a:cs typeface="Arial"/>
              </a:rPr>
              <a:t>ESTIMATED MONTHLY PLATFORM COST</a:t>
            </a:r>
          </a:p>
        </p:txBody>
      </p:sp>
      <p:sp>
        <p:nvSpPr>
          <p:cNvPr id="2" name="slide-10-title">
            <a:extLst>
              <a:ext uri="{FF2B5EF4-FFF2-40B4-BE49-F238E27FC236}">
                <a16:creationId xmlns:a16="http://schemas.microsoft.com/office/drawing/2014/main" id="{C408CEEB-040B-4E58-897E-8D755CC98AF7}"/>
              </a:ext>
            </a:extLst>
          </p:cNvPr>
          <p:cNvSpPr>
            <a:spLocks noGrp="1"/>
          </p:cNvSpPr>
          <p:nvPr/>
        </p:nvSpPr>
        <p:spPr>
          <a:xfrm>
            <a:off x="533400" y="628650"/>
            <a:ext cx="10763250" cy="742950"/>
          </a:xfrm>
          <a:prstGeom prst="rect">
            <a:avLst/>
          </a:prstGeom>
          <a:noFill/>
          <a:ln w="0">
            <a:noFill/>
            <a:prstDash val="solid"/>
          </a:ln>
        </p:spPr>
        <p:txBody>
          <a:bodyPr anchor="t">
            <a:normAutofit/>
          </a:bodyPr>
          <a:lstStyle/>
          <a:p>
            <a:pPr algn="l">
              <a:defRPr sz="2925" b="1">
                <a:solidFill>
                  <a:srgbClr val="0B1220"/>
                </a:solidFill>
                <a:latin typeface="Arial"/>
                <a:ea typeface="Arial"/>
                <a:cs typeface="Arial"/>
              </a:defRPr>
            </a:pPr>
            <a:r>
              <a:rPr sz="2925" b="1">
                <a:solidFill>
                  <a:srgbClr val="0B1220"/>
                </a:solidFill>
                <a:latin typeface="Arial"/>
                <a:ea typeface="Arial"/>
                <a:cs typeface="Arial"/>
              </a:rPr>
              <a:t>Connector calls drive the high-volume cost gap</a:t>
            </a:r>
          </a:p>
        </p:txBody>
      </p:sp>
      <p:sp>
        <p:nvSpPr>
          <p:cNvPr id="3" name="Rectangle 2">
            <a:extLst>
              <a:ext uri="{FF2B5EF4-FFF2-40B4-BE49-F238E27FC236}">
                <a16:creationId xmlns:a16="http://schemas.microsoft.com/office/drawing/2014/main" id="{91799382-F8A0-48C9-B076-B20CC6F13D28}"/>
              </a:ext>
            </a:extLst>
          </p:cNvPr>
          <p:cNvSpPr>
            <a:spLocks noGrp="1"/>
          </p:cNvSpPr>
          <p:nvPr/>
        </p:nvSpPr>
        <p:spPr>
          <a:xfrm>
            <a:off x="533400" y="1409700"/>
            <a:ext cx="11125200" cy="19050"/>
          </a:xfrm>
          <a:prstGeom prst="rect">
            <a:avLst/>
          </a:prstGeom>
          <a:solidFill>
            <a:srgbClr val="B8BCC4"/>
          </a:solidFill>
          <a:ln w="0">
            <a:solidFill>
              <a:srgbClr val="B8BCC4"/>
            </a:solidFill>
            <a:prstDash val="solid"/>
          </a:ln>
        </p:spPr>
        <p:txBody>
          <a:bodyPr/>
          <a:lstStyle/>
          <a:p>
            <a:endParaRPr lang="zh-CN" altLang="en-US"/>
          </a:p>
        </p:txBody>
      </p:sp>
      <p:sp>
        <p:nvSpPr>
          <p:cNvPr id="4" name="Rectangle 3">
            <a:extLst>
              <a:ext uri="{FF2B5EF4-FFF2-40B4-BE49-F238E27FC236}">
                <a16:creationId xmlns:a16="http://schemas.microsoft.com/office/drawing/2014/main" id="{03825A1A-14BC-4962-9EB0-E95C59C626C7}"/>
              </a:ext>
            </a:extLst>
          </p:cNvPr>
          <p:cNvSpPr>
            <a:spLocks noGrp="1"/>
          </p:cNvSpPr>
          <p:nvPr/>
        </p:nvSpPr>
        <p:spPr>
          <a:xfrm>
            <a:off x="11191875" y="6419850"/>
            <a:ext cx="457200" cy="190500"/>
          </a:xfrm>
          <a:prstGeom prst="rect">
            <a:avLst/>
          </a:prstGeom>
          <a:noFill/>
          <a:ln w="0">
            <a:noFill/>
            <a:prstDash val="solid"/>
          </a:ln>
        </p:spPr>
        <p:txBody>
          <a:bodyPr anchor="t">
            <a:normAutofit fontScale="87222" lnSpcReduction="20000"/>
          </a:bodyPr>
          <a:lstStyle/>
          <a:p>
            <a:pPr algn="r">
              <a:defRPr sz="900" b="0">
                <a:solidFill>
                  <a:srgbClr val="4B5563"/>
                </a:solidFill>
                <a:latin typeface="Arial"/>
                <a:ea typeface="Arial"/>
                <a:cs typeface="Arial"/>
              </a:defRPr>
            </a:pPr>
            <a:r>
              <a:rPr sz="900" b="0">
                <a:solidFill>
                  <a:srgbClr val="4B5563"/>
                </a:solidFill>
                <a:latin typeface="Arial"/>
                <a:ea typeface="Arial"/>
                <a:cs typeface="Arial"/>
              </a:rPr>
              <a:t>10</a:t>
            </a:r>
          </a:p>
        </p:txBody>
      </p:sp>
      <p:graphicFrame>
        <p:nvGraphicFramePr>
          <p:cNvPr id="13" name="Chart"/>
          <p:cNvGraphicFramePr/>
          <p:nvPr/>
        </p:nvGraphicFramePr>
        <p:xfrm>
          <a:off x="552450" y="1762125"/>
          <a:ext cx="6667500" cy="381000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CAF7319E-BBC5-49BB-867E-E35A917DAFDA}"/>
              </a:ext>
            </a:extLst>
          </p:cNvPr>
          <p:cNvSpPr>
            <a:spLocks noGrp="1"/>
          </p:cNvSpPr>
          <p:nvPr/>
        </p:nvSpPr>
        <p:spPr>
          <a:xfrm>
            <a:off x="7858125" y="1809750"/>
            <a:ext cx="3048000" cy="323850"/>
          </a:xfrm>
          <a:prstGeom prst="rect">
            <a:avLst/>
          </a:prstGeom>
          <a:noFill/>
          <a:ln w="0">
            <a:noFill/>
            <a:prstDash val="solid"/>
          </a:ln>
        </p:spPr>
        <p:txBody>
          <a:bodyPr anchor="t">
            <a:normAutofit fontScale="85705" lnSpcReduction="20000"/>
          </a:bodyPr>
          <a:lstStyle/>
          <a:p>
            <a:pPr algn="l">
              <a:defRPr sz="1950" b="1">
                <a:solidFill>
                  <a:srgbClr val="0B1220"/>
                </a:solidFill>
                <a:latin typeface="Arial"/>
                <a:ea typeface="Arial"/>
                <a:cs typeface="Arial"/>
              </a:defRPr>
            </a:pPr>
            <a:r>
              <a:rPr sz="1950" b="1">
                <a:solidFill>
                  <a:srgbClr val="0B1220"/>
                </a:solidFill>
                <a:latin typeface="Arial"/>
                <a:ea typeface="Arial"/>
                <a:cs typeface="Arial"/>
              </a:rPr>
              <a:t>Assumptions</a:t>
            </a:r>
          </a:p>
        </p:txBody>
      </p:sp>
      <p:sp>
        <p:nvSpPr>
          <p:cNvPr id="7" name="Rectangle 6">
            <a:extLst>
              <a:ext uri="{FF2B5EF4-FFF2-40B4-BE49-F238E27FC236}">
                <a16:creationId xmlns:a16="http://schemas.microsoft.com/office/drawing/2014/main" id="{530B2D2C-1C61-4F22-8B02-5FAE6B34E301}"/>
              </a:ext>
            </a:extLst>
          </p:cNvPr>
          <p:cNvSpPr>
            <a:spLocks noGrp="1"/>
          </p:cNvSpPr>
          <p:nvPr/>
        </p:nvSpPr>
        <p:spPr>
          <a:xfrm>
            <a:off x="7858125" y="2333625"/>
            <a:ext cx="3381375" cy="2476500"/>
          </a:xfrm>
          <a:prstGeom prst="rect">
            <a:avLst/>
          </a:prstGeom>
          <a:noFill/>
          <a:ln w="0">
            <a:noFill/>
            <a:prstDash val="solid"/>
          </a:ln>
        </p:spPr>
        <p:txBody>
          <a:bodyPr anchor="t">
            <a:normAutofit/>
          </a:bodyPr>
          <a:lstStyle/>
          <a:p>
            <a:pPr algn="l">
              <a:defRPr sz="1500" b="0">
                <a:solidFill>
                  <a:srgbClr val="4B5563"/>
                </a:solidFill>
                <a:latin typeface="Arial"/>
                <a:ea typeface="Arial"/>
                <a:cs typeface="Arial"/>
              </a:defRPr>
            </a:pPr>
            <a:r>
              <a:rPr sz="1500" b="0">
                <a:solidFill>
                  <a:srgbClr val="4B5563"/>
                </a:solidFill>
                <a:latin typeface="Arial"/>
                <a:ea typeface="Arial"/>
                <a:cs typeface="Arial"/>
              </a:rPr>
              <a:t>• 30 days/month</a:t>
            </a:r>
          </a:p>
          <a:p>
            <a:pPr algn="l">
              <a:defRPr sz="1500" b="0">
                <a:solidFill>
                  <a:srgbClr val="4B5563"/>
                </a:solidFill>
                <a:latin typeface="Arial"/>
                <a:ea typeface="Arial"/>
                <a:cs typeface="Arial"/>
              </a:defRPr>
            </a:pPr>
            <a:r>
              <a:rPr sz="1500" b="0">
                <a:solidFill>
                  <a:srgbClr val="4B5563"/>
                </a:solidFill>
                <a:latin typeface="Arial"/>
                <a:ea typeface="Arial"/>
                <a:cs typeface="Arial"/>
              </a:rPr>
              <a:t>• 20% need manager approval</a:t>
            </a:r>
          </a:p>
          <a:p>
            <a:pPr algn="l">
              <a:defRPr sz="1500" b="0">
                <a:solidFill>
                  <a:srgbClr val="4B5563"/>
                </a:solidFill>
                <a:latin typeface="Arial"/>
                <a:ea typeface="Arial"/>
                <a:cs typeface="Arial"/>
              </a:defRPr>
            </a:pPr>
            <a:r>
              <a:rPr sz="1500" b="0">
                <a:solidFill>
                  <a:srgbClr val="4B5563"/>
                </a:solidFill>
                <a:latin typeface="Arial"/>
                <a:ea typeface="Arial"/>
                <a:cs typeface="Arial"/>
              </a:rPr>
              <a:t>• Functions Consumption plan</a:t>
            </a:r>
          </a:p>
          <a:p>
            <a:pPr algn="l">
              <a:defRPr sz="1500" b="0">
                <a:solidFill>
                  <a:srgbClr val="4B5563"/>
                </a:solidFill>
                <a:latin typeface="Arial"/>
                <a:ea typeface="Arial"/>
                <a:cs typeface="Arial"/>
              </a:defRPr>
            </a:pPr>
            <a:r>
              <a:rPr sz="1500" b="0">
                <a:solidFill>
                  <a:srgbClr val="4B5563"/>
                </a:solidFill>
                <a:latin typeface="Arial"/>
                <a:ea typeface="Arial"/>
                <a:cs typeface="Arial"/>
              </a:rPr>
              <a:t>• Logic Apps Consumption plan</a:t>
            </a:r>
          </a:p>
          <a:p>
            <a:pPr algn="l">
              <a:defRPr sz="1500" b="0">
                <a:solidFill>
                  <a:srgbClr val="4B5563"/>
                </a:solidFill>
                <a:latin typeface="Arial"/>
                <a:ea typeface="Arial"/>
                <a:cs typeface="Arial"/>
              </a:defRPr>
            </a:pPr>
            <a:r>
              <a:rPr sz="1500" b="0">
                <a:solidFill>
                  <a:srgbClr val="4B5563"/>
                </a:solidFill>
                <a:latin typeface="Arial"/>
                <a:ea typeface="Arial"/>
                <a:cs typeface="Arial"/>
              </a:rPr>
              <a:t>• Service Bus Standard</a:t>
            </a:r>
          </a:p>
          <a:p>
            <a:pPr algn="l">
              <a:defRPr sz="1500" b="0">
                <a:solidFill>
                  <a:srgbClr val="4B5563"/>
                </a:solidFill>
                <a:latin typeface="Arial"/>
                <a:ea typeface="Arial"/>
                <a:cs typeface="Arial"/>
              </a:defRPr>
            </a:pPr>
            <a:r>
              <a:rPr sz="1500" b="0">
                <a:solidFill>
                  <a:srgbClr val="4B5563"/>
                </a:solidFill>
                <a:latin typeface="Arial"/>
                <a:ea typeface="Arial"/>
                <a:cs typeface="Arial"/>
              </a:rPr>
              <a:t>• Email, taxes, support, and heavy logging excluded</a:t>
            </a:r>
          </a:p>
        </p:txBody>
      </p:sp>
      <p:sp>
        <p:nvSpPr>
          <p:cNvPr id="8" name="Rectangle 7">
            <a:extLst>
              <a:ext uri="{FF2B5EF4-FFF2-40B4-BE49-F238E27FC236}">
                <a16:creationId xmlns:a16="http://schemas.microsoft.com/office/drawing/2014/main" id="{7E3CD854-738B-41FD-BEDB-B84444C9B672}"/>
              </a:ext>
            </a:extLst>
          </p:cNvPr>
          <p:cNvSpPr>
            <a:spLocks noGrp="1"/>
          </p:cNvSpPr>
          <p:nvPr/>
        </p:nvSpPr>
        <p:spPr>
          <a:xfrm>
            <a:off x="7858125" y="5095875"/>
            <a:ext cx="3381375" cy="714375"/>
          </a:xfrm>
          <a:prstGeom prst="rect">
            <a:avLst/>
          </a:prstGeom>
          <a:noFill/>
          <a:ln w="0">
            <a:noFill/>
            <a:prstDash val="solid"/>
          </a:ln>
        </p:spPr>
        <p:txBody>
          <a:bodyPr anchor="t">
            <a:normAutofit fontScale="95614" lnSpcReduction="10000"/>
          </a:bodyPr>
          <a:lstStyle/>
          <a:p>
            <a:pPr algn="l">
              <a:defRPr sz="1425" b="1">
                <a:solidFill>
                  <a:srgbClr val="C47A00"/>
                </a:solidFill>
                <a:latin typeface="Arial"/>
                <a:ea typeface="Arial"/>
                <a:cs typeface="Arial"/>
              </a:defRPr>
            </a:pPr>
            <a:r>
              <a:rPr sz="1425" b="1">
                <a:solidFill>
                  <a:srgbClr val="C47A00"/>
                </a:solidFill>
                <a:latin typeface="Arial"/>
                <a:ea typeface="Arial"/>
                <a:cs typeface="Arial"/>
              </a:rPr>
              <a:t>Verify your own region and currency in the Azure Pricing Calculator before submission.</a:t>
            </a:r>
          </a:p>
        </p:txBody>
      </p:sp>
    </p:spTree>
    <p:extLst>
      <p:ext uri="{BB962C8B-B14F-4D97-AF65-F5344CB8AC3E}">
        <p14:creationId xmlns:p14="http://schemas.microsoft.com/office/powerpoint/2010/main" val="6304253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3E7B22C-FE34-40C4-846D-3F0DF964395E}"/>
              </a:ext>
            </a:extLst>
          </p:cNvPr>
          <p:cNvSpPr>
            <a:spLocks noGrp="1"/>
          </p:cNvSpPr>
          <p:nvPr/>
        </p:nvSpPr>
        <p:spPr>
          <a:xfrm>
            <a:off x="533400" y="323850"/>
            <a:ext cx="3143250" cy="266700"/>
          </a:xfrm>
          <a:prstGeom prst="rect">
            <a:avLst/>
          </a:prstGeom>
          <a:noFill/>
          <a:ln w="0">
            <a:noFill/>
            <a:prstDash val="solid"/>
          </a:ln>
        </p:spPr>
        <p:txBody>
          <a:bodyPr anchor="t">
            <a:normAutofit/>
          </a:bodyPr>
          <a:lstStyle/>
          <a:p>
            <a:pPr algn="l">
              <a:defRPr sz="1125" b="1">
                <a:solidFill>
                  <a:srgbClr val="2F80ED"/>
                </a:solidFill>
                <a:latin typeface="Arial"/>
                <a:ea typeface="Arial"/>
                <a:cs typeface="Arial"/>
              </a:defRPr>
            </a:pPr>
            <a:r>
              <a:rPr sz="1125" b="1">
                <a:solidFill>
                  <a:srgbClr val="2F80ED"/>
                </a:solidFill>
                <a:latin typeface="Arial"/>
                <a:ea typeface="Arial"/>
                <a:cs typeface="Arial"/>
              </a:rPr>
              <a:t>RECOMMENDATION</a:t>
            </a:r>
          </a:p>
        </p:txBody>
      </p:sp>
      <p:sp>
        <p:nvSpPr>
          <p:cNvPr id="2" name="slide-11-title">
            <a:extLst>
              <a:ext uri="{FF2B5EF4-FFF2-40B4-BE49-F238E27FC236}">
                <a16:creationId xmlns:a16="http://schemas.microsoft.com/office/drawing/2014/main" id="{E91E1C65-43B9-4F65-BEAE-A1392107A3CB}"/>
              </a:ext>
            </a:extLst>
          </p:cNvPr>
          <p:cNvSpPr>
            <a:spLocks noGrp="1"/>
          </p:cNvSpPr>
          <p:nvPr/>
        </p:nvSpPr>
        <p:spPr>
          <a:xfrm>
            <a:off x="533400" y="628650"/>
            <a:ext cx="10763250" cy="742950"/>
          </a:xfrm>
          <a:prstGeom prst="rect">
            <a:avLst/>
          </a:prstGeom>
          <a:noFill/>
          <a:ln w="0">
            <a:noFill/>
            <a:prstDash val="solid"/>
          </a:ln>
        </p:spPr>
        <p:txBody>
          <a:bodyPr anchor="t">
            <a:normAutofit/>
          </a:bodyPr>
          <a:lstStyle/>
          <a:p>
            <a:pPr algn="l">
              <a:defRPr sz="2925" b="1">
                <a:solidFill>
                  <a:srgbClr val="0B1220"/>
                </a:solidFill>
                <a:latin typeface="Arial"/>
                <a:ea typeface="Arial"/>
                <a:cs typeface="Arial"/>
              </a:defRPr>
            </a:pPr>
            <a:r>
              <a:rPr sz="2925" b="1">
                <a:solidFill>
                  <a:srgbClr val="0B1220"/>
                </a:solidFill>
                <a:latin typeface="Arial"/>
                <a:ea typeface="Arial"/>
                <a:cs typeface="Arial"/>
              </a:rPr>
              <a:t>Choose Durable Functions for the production core</a:t>
            </a:r>
          </a:p>
        </p:txBody>
      </p:sp>
      <p:sp>
        <p:nvSpPr>
          <p:cNvPr id="3" name="Rectangle 2">
            <a:extLst>
              <a:ext uri="{FF2B5EF4-FFF2-40B4-BE49-F238E27FC236}">
                <a16:creationId xmlns:a16="http://schemas.microsoft.com/office/drawing/2014/main" id="{FCA5C8E3-C97E-4497-8BE7-6185353C39F9}"/>
              </a:ext>
            </a:extLst>
          </p:cNvPr>
          <p:cNvSpPr>
            <a:spLocks noGrp="1"/>
          </p:cNvSpPr>
          <p:nvPr/>
        </p:nvSpPr>
        <p:spPr>
          <a:xfrm>
            <a:off x="533400" y="1409700"/>
            <a:ext cx="11125200" cy="19050"/>
          </a:xfrm>
          <a:prstGeom prst="rect">
            <a:avLst/>
          </a:prstGeom>
          <a:solidFill>
            <a:srgbClr val="B8BCC4"/>
          </a:solidFill>
          <a:ln w="0">
            <a:solidFill>
              <a:srgbClr val="B8BCC4"/>
            </a:solidFill>
            <a:prstDash val="solid"/>
          </a:ln>
        </p:spPr>
        <p:txBody>
          <a:bodyPr/>
          <a:lstStyle/>
          <a:p>
            <a:endParaRPr lang="zh-CN" altLang="en-US"/>
          </a:p>
        </p:txBody>
      </p:sp>
      <p:sp>
        <p:nvSpPr>
          <p:cNvPr id="4" name="Rectangle 3">
            <a:extLst>
              <a:ext uri="{FF2B5EF4-FFF2-40B4-BE49-F238E27FC236}">
                <a16:creationId xmlns:a16="http://schemas.microsoft.com/office/drawing/2014/main" id="{E0EEE9B8-0FE9-45D0-B87D-323CF3EB08EE}"/>
              </a:ext>
            </a:extLst>
          </p:cNvPr>
          <p:cNvSpPr>
            <a:spLocks noGrp="1"/>
          </p:cNvSpPr>
          <p:nvPr/>
        </p:nvSpPr>
        <p:spPr>
          <a:xfrm>
            <a:off x="11191875" y="6419850"/>
            <a:ext cx="457200" cy="190500"/>
          </a:xfrm>
          <a:prstGeom prst="rect">
            <a:avLst/>
          </a:prstGeom>
          <a:noFill/>
          <a:ln w="0">
            <a:noFill/>
            <a:prstDash val="solid"/>
          </a:ln>
        </p:spPr>
        <p:txBody>
          <a:bodyPr anchor="t">
            <a:normAutofit fontScale="87222" lnSpcReduction="20000"/>
          </a:bodyPr>
          <a:lstStyle/>
          <a:p>
            <a:pPr algn="r">
              <a:defRPr sz="900" b="0">
                <a:solidFill>
                  <a:srgbClr val="4B5563"/>
                </a:solidFill>
                <a:latin typeface="Arial"/>
                <a:ea typeface="Arial"/>
                <a:cs typeface="Arial"/>
              </a:defRPr>
            </a:pPr>
            <a:r>
              <a:rPr sz="900" b="0">
                <a:solidFill>
                  <a:srgbClr val="4B5563"/>
                </a:solidFill>
                <a:latin typeface="Arial"/>
                <a:ea typeface="Arial"/>
                <a:cs typeface="Arial"/>
              </a:rPr>
              <a:t>11</a:t>
            </a:r>
          </a:p>
        </p:txBody>
      </p:sp>
      <p:sp>
        <p:nvSpPr>
          <p:cNvPr id="5" name="Rectangle 4">
            <a:extLst>
              <a:ext uri="{FF2B5EF4-FFF2-40B4-BE49-F238E27FC236}">
                <a16:creationId xmlns:a16="http://schemas.microsoft.com/office/drawing/2014/main" id="{22CC8541-2B8B-4ED3-BBBF-4D29627F741C}"/>
              </a:ext>
            </a:extLst>
          </p:cNvPr>
          <p:cNvSpPr>
            <a:spLocks noGrp="1"/>
          </p:cNvSpPr>
          <p:nvPr/>
        </p:nvSpPr>
        <p:spPr>
          <a:xfrm>
            <a:off x="552450" y="1809750"/>
            <a:ext cx="5238750" cy="3714750"/>
          </a:xfrm>
          <a:prstGeom prst="rect">
            <a:avLst/>
          </a:prstGeom>
          <a:solidFill>
            <a:srgbClr val="DCEEFF"/>
          </a:solidFill>
          <a:ln w="0">
            <a:solidFill>
              <a:srgbClr val="DCEEFF"/>
            </a:solidFill>
            <a:prstDash val="solid"/>
          </a:ln>
        </p:spPr>
        <p:txBody>
          <a:bodyPr/>
          <a:lstStyle/>
          <a:p>
            <a:endParaRPr lang="zh-CN" altLang="en-US"/>
          </a:p>
        </p:txBody>
      </p:sp>
      <p:sp>
        <p:nvSpPr>
          <p:cNvPr id="6" name="Rectangle 5">
            <a:extLst>
              <a:ext uri="{FF2B5EF4-FFF2-40B4-BE49-F238E27FC236}">
                <a16:creationId xmlns:a16="http://schemas.microsoft.com/office/drawing/2014/main" id="{9BAF7463-43FB-4C56-ABA1-4222FD4D9265}"/>
              </a:ext>
            </a:extLst>
          </p:cNvPr>
          <p:cNvSpPr>
            <a:spLocks noGrp="1"/>
          </p:cNvSpPr>
          <p:nvPr/>
        </p:nvSpPr>
        <p:spPr>
          <a:xfrm>
            <a:off x="876300" y="2143125"/>
            <a:ext cx="2095500" cy="304800"/>
          </a:xfrm>
          <a:prstGeom prst="rect">
            <a:avLst/>
          </a:prstGeom>
          <a:noFill/>
          <a:ln w="0">
            <a:noFill/>
            <a:prstDash val="solid"/>
          </a:ln>
        </p:spPr>
        <p:txBody>
          <a:bodyPr anchor="t">
            <a:normAutofit fontScale="96389" lnSpcReduction="10000"/>
          </a:bodyPr>
          <a:lstStyle/>
          <a:p>
            <a:pPr algn="l">
              <a:defRPr sz="1575" b="1">
                <a:solidFill>
                  <a:srgbClr val="2F80ED"/>
                </a:solidFill>
                <a:latin typeface="Arial"/>
                <a:ea typeface="Arial"/>
                <a:cs typeface="Arial"/>
              </a:defRPr>
            </a:pPr>
            <a:r>
              <a:rPr sz="1575" b="1">
                <a:solidFill>
                  <a:srgbClr val="2F80ED"/>
                </a:solidFill>
                <a:latin typeface="Arial"/>
                <a:ea typeface="Arial"/>
                <a:cs typeface="Arial"/>
              </a:rPr>
              <a:t>Primary choice</a:t>
            </a:r>
          </a:p>
        </p:txBody>
      </p:sp>
      <p:sp>
        <p:nvSpPr>
          <p:cNvPr id="7" name="Rectangle 6">
            <a:extLst>
              <a:ext uri="{FF2B5EF4-FFF2-40B4-BE49-F238E27FC236}">
                <a16:creationId xmlns:a16="http://schemas.microsoft.com/office/drawing/2014/main" id="{976245EE-D971-4697-9E39-43022739E2D3}"/>
              </a:ext>
            </a:extLst>
          </p:cNvPr>
          <p:cNvSpPr>
            <a:spLocks noGrp="1"/>
          </p:cNvSpPr>
          <p:nvPr/>
        </p:nvSpPr>
        <p:spPr>
          <a:xfrm>
            <a:off x="876300" y="2619375"/>
            <a:ext cx="4095750" cy="1066800"/>
          </a:xfrm>
          <a:prstGeom prst="rect">
            <a:avLst/>
          </a:prstGeom>
          <a:noFill/>
          <a:ln w="0">
            <a:noFill/>
            <a:prstDash val="solid"/>
          </a:ln>
        </p:spPr>
        <p:txBody>
          <a:bodyPr anchor="t">
            <a:normAutofit fontScale="96389" lnSpcReduction="10000"/>
          </a:bodyPr>
          <a:lstStyle/>
          <a:p>
            <a:pPr algn="l">
              <a:defRPr sz="3600" b="1">
                <a:solidFill>
                  <a:srgbClr val="0B1220"/>
                </a:solidFill>
                <a:latin typeface="Arial"/>
                <a:ea typeface="Arial"/>
                <a:cs typeface="Arial"/>
              </a:defRPr>
            </a:pPr>
            <a:r>
              <a:rPr sz="3600" b="1">
                <a:solidFill>
                  <a:srgbClr val="0B1220"/>
                </a:solidFill>
                <a:latin typeface="Arial"/>
                <a:ea typeface="Arial"/>
                <a:cs typeface="Arial"/>
              </a:rPr>
              <a:t>Durable</a:t>
            </a:r>
          </a:p>
          <a:p>
            <a:pPr algn="l">
              <a:defRPr sz="3600" b="1">
                <a:solidFill>
                  <a:srgbClr val="0B1220"/>
                </a:solidFill>
                <a:latin typeface="Arial"/>
                <a:ea typeface="Arial"/>
                <a:cs typeface="Arial"/>
              </a:defRPr>
            </a:pPr>
            <a:r>
              <a:rPr sz="3600" b="1">
                <a:solidFill>
                  <a:srgbClr val="0B1220"/>
                </a:solidFill>
                <a:latin typeface="Arial"/>
                <a:ea typeface="Arial"/>
                <a:cs typeface="Arial"/>
              </a:rPr>
              <a:t>Functions</a:t>
            </a:r>
          </a:p>
        </p:txBody>
      </p:sp>
      <p:sp>
        <p:nvSpPr>
          <p:cNvPr id="8" name="Rectangle 7">
            <a:extLst>
              <a:ext uri="{FF2B5EF4-FFF2-40B4-BE49-F238E27FC236}">
                <a16:creationId xmlns:a16="http://schemas.microsoft.com/office/drawing/2014/main" id="{A8408B47-4540-4F4E-B3BD-000510EE46F1}"/>
              </a:ext>
            </a:extLst>
          </p:cNvPr>
          <p:cNvSpPr>
            <a:spLocks noGrp="1"/>
          </p:cNvSpPr>
          <p:nvPr/>
        </p:nvSpPr>
        <p:spPr>
          <a:xfrm>
            <a:off x="876300" y="4048125"/>
            <a:ext cx="4095750" cy="1000125"/>
          </a:xfrm>
          <a:prstGeom prst="rect">
            <a:avLst/>
          </a:prstGeom>
          <a:noFill/>
          <a:ln w="0">
            <a:noFill/>
            <a:prstDash val="solid"/>
          </a:ln>
        </p:spPr>
        <p:txBody>
          <a:bodyPr anchor="t">
            <a:normAutofit/>
          </a:bodyPr>
          <a:lstStyle/>
          <a:p>
            <a:pPr algn="l">
              <a:defRPr sz="1650" b="0">
                <a:solidFill>
                  <a:srgbClr val="4B5563"/>
                </a:solidFill>
                <a:latin typeface="Arial"/>
                <a:ea typeface="Arial"/>
                <a:cs typeface="Arial"/>
              </a:defRPr>
            </a:pPr>
            <a:r>
              <a:rPr sz="1650" b="0">
                <a:solidFill>
                  <a:srgbClr val="4B5563"/>
                </a:solidFill>
                <a:latin typeface="Arial"/>
                <a:ea typeface="Arial"/>
                <a:cs typeface="Arial"/>
              </a:rPr>
              <a:t>Best fit for a long-running approval process with custom rules, testing, and source-controlled logic.</a:t>
            </a:r>
          </a:p>
        </p:txBody>
      </p:sp>
      <p:sp>
        <p:nvSpPr>
          <p:cNvPr id="9" name="Rectangle 8">
            <a:extLst>
              <a:ext uri="{FF2B5EF4-FFF2-40B4-BE49-F238E27FC236}">
                <a16:creationId xmlns:a16="http://schemas.microsoft.com/office/drawing/2014/main" id="{FCC45A88-C3DA-4821-BBD1-0EC93D16B6B1}"/>
              </a:ext>
            </a:extLst>
          </p:cNvPr>
          <p:cNvSpPr>
            <a:spLocks noGrp="1"/>
          </p:cNvSpPr>
          <p:nvPr/>
        </p:nvSpPr>
        <p:spPr>
          <a:xfrm>
            <a:off x="6572250" y="2000250"/>
            <a:ext cx="4000500" cy="381000"/>
          </a:xfrm>
          <a:prstGeom prst="rect">
            <a:avLst/>
          </a:prstGeom>
          <a:noFill/>
          <a:ln w="0">
            <a:noFill/>
            <a:prstDash val="solid"/>
          </a:ln>
        </p:spPr>
        <p:txBody>
          <a:bodyPr anchor="t">
            <a:normAutofit fontScale="97976" lnSpcReduction="10000"/>
          </a:bodyPr>
          <a:lstStyle/>
          <a:p>
            <a:pPr algn="l">
              <a:defRPr sz="2100" b="1">
                <a:solidFill>
                  <a:srgbClr val="2E9D62"/>
                </a:solidFill>
                <a:latin typeface="Arial"/>
                <a:ea typeface="Arial"/>
                <a:cs typeface="Arial"/>
              </a:defRPr>
            </a:pPr>
            <a:r>
              <a:rPr sz="2100" b="1">
                <a:solidFill>
                  <a:srgbClr val="2E9D62"/>
                </a:solidFill>
                <a:latin typeface="Arial"/>
                <a:ea typeface="Arial"/>
                <a:cs typeface="Arial"/>
              </a:rPr>
              <a:t>Choose Logic Apps when…</a:t>
            </a:r>
          </a:p>
        </p:txBody>
      </p:sp>
      <p:sp>
        <p:nvSpPr>
          <p:cNvPr id="10" name="Rectangle 9">
            <a:extLst>
              <a:ext uri="{FF2B5EF4-FFF2-40B4-BE49-F238E27FC236}">
                <a16:creationId xmlns:a16="http://schemas.microsoft.com/office/drawing/2014/main" id="{51F909C8-B7CE-4225-9ACE-C0FB6C7C4AA6}"/>
              </a:ext>
            </a:extLst>
          </p:cNvPr>
          <p:cNvSpPr>
            <a:spLocks noGrp="1"/>
          </p:cNvSpPr>
          <p:nvPr/>
        </p:nvSpPr>
        <p:spPr>
          <a:xfrm>
            <a:off x="6572250" y="2714625"/>
            <a:ext cx="4476750" cy="2571750"/>
          </a:xfrm>
          <a:prstGeom prst="rect">
            <a:avLst/>
          </a:prstGeom>
          <a:noFill/>
          <a:ln w="0">
            <a:noFill/>
            <a:prstDash val="solid"/>
          </a:ln>
        </p:spPr>
        <p:txBody>
          <a:bodyPr anchor="t">
            <a:normAutofit/>
          </a:bodyPr>
          <a:lstStyle/>
          <a:p>
            <a:pPr algn="l">
              <a:defRPr sz="1650" b="0">
                <a:solidFill>
                  <a:srgbClr val="4B5563"/>
                </a:solidFill>
                <a:latin typeface="Arial"/>
                <a:ea typeface="Arial"/>
                <a:cs typeface="Arial"/>
              </a:defRPr>
            </a:pPr>
            <a:r>
              <a:rPr sz="1650" b="0">
                <a:solidFill>
                  <a:srgbClr val="4B5563"/>
                </a:solidFill>
                <a:latin typeface="Arial"/>
                <a:ea typeface="Arial"/>
                <a:cs typeface="Arial"/>
              </a:rPr>
              <a:t>• The workflow is mostly integration</a:t>
            </a:r>
          </a:p>
          <a:p>
            <a:endParaRPr sz="1650" b="0">
              <a:solidFill>
                <a:srgbClr val="4B5563"/>
              </a:solidFill>
              <a:latin typeface="Arial"/>
              <a:ea typeface="Arial"/>
              <a:cs typeface="Arial"/>
            </a:endParaRPr>
          </a:p>
          <a:p>
            <a:pPr algn="l">
              <a:defRPr sz="1650" b="0">
                <a:solidFill>
                  <a:srgbClr val="4B5563"/>
                </a:solidFill>
                <a:latin typeface="Arial"/>
                <a:ea typeface="Arial"/>
                <a:cs typeface="Arial"/>
              </a:defRPr>
            </a:pPr>
            <a:r>
              <a:rPr sz="1650" b="0">
                <a:solidFill>
                  <a:srgbClr val="4B5563"/>
                </a:solidFill>
                <a:latin typeface="Arial"/>
                <a:ea typeface="Arial"/>
                <a:cs typeface="Arial"/>
              </a:rPr>
              <a:t>• Microsoft 365 connectors are already approved</a:t>
            </a:r>
          </a:p>
          <a:p>
            <a:endParaRPr sz="1650" b="0">
              <a:solidFill>
                <a:srgbClr val="4B5563"/>
              </a:solidFill>
              <a:latin typeface="Arial"/>
              <a:ea typeface="Arial"/>
              <a:cs typeface="Arial"/>
            </a:endParaRPr>
          </a:p>
          <a:p>
            <a:pPr algn="l">
              <a:defRPr sz="1650" b="0">
                <a:solidFill>
                  <a:srgbClr val="4B5563"/>
                </a:solidFill>
                <a:latin typeface="Arial"/>
                <a:ea typeface="Arial"/>
                <a:cs typeface="Arial"/>
              </a:defRPr>
            </a:pPr>
            <a:r>
              <a:rPr sz="1650" b="0">
                <a:solidFill>
                  <a:srgbClr val="4B5563"/>
                </a:solidFill>
                <a:latin typeface="Arial"/>
                <a:ea typeface="Arial"/>
                <a:cs typeface="Arial"/>
              </a:rPr>
              <a:t>• Business rules change often</a:t>
            </a:r>
          </a:p>
          <a:p>
            <a:endParaRPr sz="1650" b="0">
              <a:solidFill>
                <a:srgbClr val="4B5563"/>
              </a:solidFill>
              <a:latin typeface="Arial"/>
              <a:ea typeface="Arial"/>
              <a:cs typeface="Arial"/>
            </a:endParaRPr>
          </a:p>
          <a:p>
            <a:pPr algn="l">
              <a:defRPr sz="1650" b="0">
                <a:solidFill>
                  <a:srgbClr val="4B5563"/>
                </a:solidFill>
                <a:latin typeface="Arial"/>
                <a:ea typeface="Arial"/>
                <a:cs typeface="Arial"/>
              </a:defRPr>
            </a:pPr>
            <a:r>
              <a:rPr sz="1650" b="0">
                <a:solidFill>
                  <a:srgbClr val="4B5563"/>
                </a:solidFill>
                <a:latin typeface="Arial"/>
                <a:ea typeface="Arial"/>
                <a:cs typeface="Arial"/>
              </a:rPr>
              <a:t>• Visual support and fast delivery matter most</a:t>
            </a:r>
          </a:p>
        </p:txBody>
      </p:sp>
      <p:sp>
        <p:nvSpPr>
          <p:cNvPr id="11" name="Rectangle 10">
            <a:extLst>
              <a:ext uri="{FF2B5EF4-FFF2-40B4-BE49-F238E27FC236}">
                <a16:creationId xmlns:a16="http://schemas.microsoft.com/office/drawing/2014/main" id="{2BD0CFA0-DA82-4733-A760-C752E36725BF}"/>
              </a:ext>
            </a:extLst>
          </p:cNvPr>
          <p:cNvSpPr>
            <a:spLocks noGrp="1"/>
          </p:cNvSpPr>
          <p:nvPr/>
        </p:nvSpPr>
        <p:spPr>
          <a:xfrm>
            <a:off x="552450" y="5953125"/>
            <a:ext cx="10668000" cy="323850"/>
          </a:xfrm>
          <a:prstGeom prst="rect">
            <a:avLst/>
          </a:prstGeom>
          <a:noFill/>
          <a:ln w="0">
            <a:noFill/>
            <a:prstDash val="solid"/>
          </a:ln>
        </p:spPr>
        <p:txBody>
          <a:bodyPr anchor="t">
            <a:normAutofit/>
          </a:bodyPr>
          <a:lstStyle/>
          <a:p>
            <a:pPr algn="l">
              <a:defRPr sz="1425" b="1">
                <a:solidFill>
                  <a:srgbClr val="2F80ED"/>
                </a:solidFill>
                <a:latin typeface="Arial"/>
                <a:ea typeface="Arial"/>
                <a:cs typeface="Arial"/>
              </a:defRPr>
            </a:pPr>
            <a:r>
              <a:rPr sz="1425" b="1">
                <a:solidFill>
                  <a:srgbClr val="2F80ED"/>
                </a:solidFill>
                <a:latin typeface="Arial"/>
                <a:ea typeface="Arial"/>
                <a:cs typeface="Arial"/>
              </a:rPr>
              <a:t>Production additions: managed identity • Key Vault • idempotency • retry policies • alerts</a:t>
            </a:r>
          </a:p>
        </p:txBody>
      </p:sp>
    </p:spTree>
    <p:extLst>
      <p:ext uri="{BB962C8B-B14F-4D97-AF65-F5344CB8AC3E}">
        <p14:creationId xmlns:p14="http://schemas.microsoft.com/office/powerpoint/2010/main" val="12953990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1E86B4B-8BDD-4F38-99E0-8E56B345996D}"/>
              </a:ext>
            </a:extLst>
          </p:cNvPr>
          <p:cNvSpPr>
            <a:spLocks noGrp="1"/>
          </p:cNvSpPr>
          <p:nvPr/>
        </p:nvSpPr>
        <p:spPr>
          <a:xfrm>
            <a:off x="552450" y="400050"/>
            <a:ext cx="2857500" cy="266700"/>
          </a:xfrm>
          <a:prstGeom prst="rect">
            <a:avLst/>
          </a:prstGeom>
          <a:noFill/>
          <a:ln w="0">
            <a:noFill/>
            <a:prstDash val="solid"/>
          </a:ln>
        </p:spPr>
        <p:txBody>
          <a:bodyPr anchor="t">
            <a:normAutofit fontScale="95833"/>
          </a:bodyPr>
          <a:lstStyle/>
          <a:p>
            <a:pPr algn="l">
              <a:defRPr sz="1200" b="1">
                <a:solidFill>
                  <a:srgbClr val="2F80ED"/>
                </a:solidFill>
                <a:latin typeface="Arial"/>
                <a:ea typeface="Arial"/>
                <a:cs typeface="Arial"/>
              </a:defRPr>
            </a:pPr>
            <a:r>
              <a:rPr sz="1200" b="1">
                <a:solidFill>
                  <a:srgbClr val="2F80ED"/>
                </a:solidFill>
                <a:latin typeface="Arial"/>
                <a:ea typeface="Arial"/>
                <a:cs typeface="Arial"/>
              </a:rPr>
              <a:t>LESSONS LEARNED</a:t>
            </a:r>
          </a:p>
        </p:txBody>
      </p:sp>
      <p:sp>
        <p:nvSpPr>
          <p:cNvPr id="2" name="Rectangle 1">
            <a:extLst>
              <a:ext uri="{FF2B5EF4-FFF2-40B4-BE49-F238E27FC236}">
                <a16:creationId xmlns:a16="http://schemas.microsoft.com/office/drawing/2014/main" id="{4D97BCF8-16E7-4A7F-9157-22EC853F21A8}"/>
              </a:ext>
            </a:extLst>
          </p:cNvPr>
          <p:cNvSpPr>
            <a:spLocks noGrp="1"/>
          </p:cNvSpPr>
          <p:nvPr/>
        </p:nvSpPr>
        <p:spPr>
          <a:xfrm>
            <a:off x="552450" y="1047750"/>
            <a:ext cx="8858250" cy="1257300"/>
          </a:xfrm>
          <a:prstGeom prst="rect">
            <a:avLst/>
          </a:prstGeom>
          <a:noFill/>
          <a:ln w="0">
            <a:noFill/>
            <a:prstDash val="solid"/>
          </a:ln>
        </p:spPr>
        <p:txBody>
          <a:bodyPr anchor="t">
            <a:normAutofit/>
          </a:bodyPr>
          <a:lstStyle/>
          <a:p>
            <a:pPr algn="l">
              <a:defRPr sz="3600" b="1">
                <a:solidFill>
                  <a:srgbClr val="0B1220"/>
                </a:solidFill>
                <a:latin typeface="Arial"/>
                <a:ea typeface="Arial"/>
                <a:cs typeface="Arial"/>
              </a:defRPr>
            </a:pPr>
            <a:r>
              <a:rPr sz="3600" b="1">
                <a:solidFill>
                  <a:srgbClr val="0B1220"/>
                </a:solidFill>
                <a:latin typeface="Arial"/>
                <a:ea typeface="Arial"/>
                <a:cs typeface="Arial"/>
              </a:rPr>
              <a:t>Serverless orchestration is</a:t>
            </a:r>
          </a:p>
          <a:p>
            <a:pPr algn="l">
              <a:defRPr sz="3600" b="1">
                <a:solidFill>
                  <a:srgbClr val="0B1220"/>
                </a:solidFill>
                <a:latin typeface="Arial"/>
                <a:ea typeface="Arial"/>
                <a:cs typeface="Arial"/>
              </a:defRPr>
            </a:pPr>
            <a:r>
              <a:rPr sz="3600" b="1">
                <a:solidFill>
                  <a:srgbClr val="0B1220"/>
                </a:solidFill>
                <a:latin typeface="Arial"/>
                <a:ea typeface="Arial"/>
                <a:cs typeface="Arial"/>
              </a:rPr>
              <a:t>mostly about waiting well.</a:t>
            </a:r>
          </a:p>
        </p:txBody>
      </p:sp>
      <p:sp>
        <p:nvSpPr>
          <p:cNvPr id="3" name="Rectangle 2">
            <a:extLst>
              <a:ext uri="{FF2B5EF4-FFF2-40B4-BE49-F238E27FC236}">
                <a16:creationId xmlns:a16="http://schemas.microsoft.com/office/drawing/2014/main" id="{B36C3372-4157-4DF4-BE91-FAB86B244FF8}"/>
              </a:ext>
            </a:extLst>
          </p:cNvPr>
          <p:cNvSpPr>
            <a:spLocks noGrp="1"/>
          </p:cNvSpPr>
          <p:nvPr/>
        </p:nvSpPr>
        <p:spPr>
          <a:xfrm>
            <a:off x="552450" y="3048000"/>
            <a:ext cx="523875" cy="523875"/>
          </a:xfrm>
          <a:prstGeom prst="rect">
            <a:avLst/>
          </a:prstGeom>
          <a:noFill/>
          <a:ln w="0">
            <a:noFill/>
            <a:prstDash val="solid"/>
          </a:ln>
        </p:spPr>
        <p:txBody>
          <a:bodyPr anchor="t">
            <a:normAutofit fontScale="99561"/>
          </a:bodyPr>
          <a:lstStyle/>
          <a:p>
            <a:pPr algn="l">
              <a:defRPr sz="2850" b="1">
                <a:solidFill>
                  <a:srgbClr val="2F80ED"/>
                </a:solidFill>
                <a:latin typeface="Arial"/>
                <a:ea typeface="Arial"/>
                <a:cs typeface="Arial"/>
              </a:defRPr>
            </a:pPr>
            <a:r>
              <a:rPr sz="2850" b="1">
                <a:solidFill>
                  <a:srgbClr val="2F80ED"/>
                </a:solidFill>
                <a:latin typeface="Arial"/>
                <a:ea typeface="Arial"/>
                <a:cs typeface="Arial"/>
              </a:rPr>
              <a:t>1</a:t>
            </a:r>
          </a:p>
        </p:txBody>
      </p:sp>
      <p:sp>
        <p:nvSpPr>
          <p:cNvPr id="4" name="Rectangle 3">
            <a:extLst>
              <a:ext uri="{FF2B5EF4-FFF2-40B4-BE49-F238E27FC236}">
                <a16:creationId xmlns:a16="http://schemas.microsoft.com/office/drawing/2014/main" id="{5D32733E-D54D-4AAF-95BC-965B03245CB4}"/>
              </a:ext>
            </a:extLst>
          </p:cNvPr>
          <p:cNvSpPr>
            <a:spLocks noGrp="1"/>
          </p:cNvSpPr>
          <p:nvPr/>
        </p:nvSpPr>
        <p:spPr>
          <a:xfrm>
            <a:off x="1190625" y="3076575"/>
            <a:ext cx="2571750" cy="333375"/>
          </a:xfrm>
          <a:prstGeom prst="rect">
            <a:avLst/>
          </a:prstGeom>
          <a:noFill/>
          <a:ln w="0">
            <a:noFill/>
            <a:prstDash val="solid"/>
          </a:ln>
        </p:spPr>
        <p:txBody>
          <a:bodyPr anchor="t">
            <a:normAutofit fontScale="84667" lnSpcReduction="10000"/>
          </a:bodyPr>
          <a:lstStyle/>
          <a:p>
            <a:pPr algn="l">
              <a:defRPr sz="1875" b="1">
                <a:solidFill>
                  <a:srgbClr val="0B1220"/>
                </a:solidFill>
                <a:latin typeface="Arial"/>
                <a:ea typeface="Arial"/>
                <a:cs typeface="Arial"/>
              </a:defRPr>
            </a:pPr>
            <a:r>
              <a:rPr sz="1875" b="1">
                <a:solidFill>
                  <a:srgbClr val="0B1220"/>
                </a:solidFill>
                <a:latin typeface="Arial"/>
                <a:ea typeface="Arial"/>
                <a:cs typeface="Arial"/>
              </a:rPr>
              <a:t>Waiting model</a:t>
            </a:r>
          </a:p>
        </p:txBody>
      </p:sp>
      <p:sp>
        <p:nvSpPr>
          <p:cNvPr id="5" name="Rectangle 4">
            <a:extLst>
              <a:ext uri="{FF2B5EF4-FFF2-40B4-BE49-F238E27FC236}">
                <a16:creationId xmlns:a16="http://schemas.microsoft.com/office/drawing/2014/main" id="{51BF8D82-7098-4F95-9778-033D32BEB742}"/>
              </a:ext>
            </a:extLst>
          </p:cNvPr>
          <p:cNvSpPr>
            <a:spLocks noGrp="1"/>
          </p:cNvSpPr>
          <p:nvPr/>
        </p:nvSpPr>
        <p:spPr>
          <a:xfrm>
            <a:off x="1190625" y="3476625"/>
            <a:ext cx="3429000" cy="666750"/>
          </a:xfrm>
          <a:prstGeom prst="rect">
            <a:avLst/>
          </a:prstGeom>
          <a:noFill/>
          <a:ln w="0">
            <a:noFill/>
            <a:prstDash val="solid"/>
          </a:ln>
        </p:spPr>
        <p:txBody>
          <a:bodyPr anchor="t">
            <a:normAutofit/>
          </a:bodyPr>
          <a:lstStyle/>
          <a:p>
            <a:pPr algn="l">
              <a:defRPr sz="1500" b="0">
                <a:solidFill>
                  <a:srgbClr val="4B5563"/>
                </a:solidFill>
                <a:latin typeface="Arial"/>
                <a:ea typeface="Arial"/>
                <a:cs typeface="Arial"/>
              </a:defRPr>
            </a:pPr>
            <a:r>
              <a:rPr sz="1500" b="0">
                <a:solidFill>
                  <a:srgbClr val="4B5563"/>
                </a:solidFill>
                <a:latin typeface="Arial"/>
                <a:ea typeface="Arial"/>
                <a:cs typeface="Arial"/>
              </a:rPr>
              <a:t>External events and timeouts shape the architecture.</a:t>
            </a:r>
          </a:p>
        </p:txBody>
      </p:sp>
      <p:sp>
        <p:nvSpPr>
          <p:cNvPr id="6" name="Rectangle 5">
            <a:extLst>
              <a:ext uri="{FF2B5EF4-FFF2-40B4-BE49-F238E27FC236}">
                <a16:creationId xmlns:a16="http://schemas.microsoft.com/office/drawing/2014/main" id="{78C5402D-22AA-43C8-BF92-86E121EBD5E3}"/>
              </a:ext>
            </a:extLst>
          </p:cNvPr>
          <p:cNvSpPr>
            <a:spLocks noGrp="1"/>
          </p:cNvSpPr>
          <p:nvPr/>
        </p:nvSpPr>
        <p:spPr>
          <a:xfrm>
            <a:off x="4476750" y="3048000"/>
            <a:ext cx="523875" cy="523875"/>
          </a:xfrm>
          <a:prstGeom prst="rect">
            <a:avLst/>
          </a:prstGeom>
          <a:noFill/>
          <a:ln w="0">
            <a:noFill/>
            <a:prstDash val="solid"/>
          </a:ln>
        </p:spPr>
        <p:txBody>
          <a:bodyPr anchor="t">
            <a:normAutofit fontScale="99561"/>
          </a:bodyPr>
          <a:lstStyle/>
          <a:p>
            <a:pPr algn="l">
              <a:defRPr sz="2850" b="1">
                <a:solidFill>
                  <a:srgbClr val="2E9D62"/>
                </a:solidFill>
                <a:latin typeface="Arial"/>
                <a:ea typeface="Arial"/>
                <a:cs typeface="Arial"/>
              </a:defRPr>
            </a:pPr>
            <a:r>
              <a:rPr sz="2850" b="1">
                <a:solidFill>
                  <a:srgbClr val="2E9D62"/>
                </a:solidFill>
                <a:latin typeface="Arial"/>
                <a:ea typeface="Arial"/>
                <a:cs typeface="Arial"/>
              </a:rPr>
              <a:t>2</a:t>
            </a:r>
          </a:p>
        </p:txBody>
      </p:sp>
      <p:sp>
        <p:nvSpPr>
          <p:cNvPr id="7" name="Rectangle 6">
            <a:extLst>
              <a:ext uri="{FF2B5EF4-FFF2-40B4-BE49-F238E27FC236}">
                <a16:creationId xmlns:a16="http://schemas.microsoft.com/office/drawing/2014/main" id="{2CAEEE6E-820F-4EE6-8B5B-1DB694363E70}"/>
              </a:ext>
            </a:extLst>
          </p:cNvPr>
          <p:cNvSpPr>
            <a:spLocks noGrp="1"/>
          </p:cNvSpPr>
          <p:nvPr/>
        </p:nvSpPr>
        <p:spPr>
          <a:xfrm>
            <a:off x="5114925" y="3076575"/>
            <a:ext cx="2571750" cy="333375"/>
          </a:xfrm>
          <a:prstGeom prst="rect">
            <a:avLst/>
          </a:prstGeom>
          <a:noFill/>
          <a:ln w="0">
            <a:noFill/>
            <a:prstDash val="solid"/>
          </a:ln>
        </p:spPr>
        <p:txBody>
          <a:bodyPr anchor="t">
            <a:normAutofit fontScale="84667" lnSpcReduction="10000"/>
          </a:bodyPr>
          <a:lstStyle/>
          <a:p>
            <a:pPr algn="l">
              <a:defRPr sz="1875" b="1">
                <a:solidFill>
                  <a:srgbClr val="0B1220"/>
                </a:solidFill>
                <a:latin typeface="Arial"/>
                <a:ea typeface="Arial"/>
                <a:cs typeface="Arial"/>
              </a:defRPr>
            </a:pPr>
            <a:r>
              <a:rPr sz="1875" b="1">
                <a:solidFill>
                  <a:srgbClr val="0B1220"/>
                </a:solidFill>
                <a:latin typeface="Arial"/>
                <a:ea typeface="Arial"/>
                <a:cs typeface="Arial"/>
              </a:rPr>
              <a:t>Operations</a:t>
            </a:r>
          </a:p>
        </p:txBody>
      </p:sp>
      <p:sp>
        <p:nvSpPr>
          <p:cNvPr id="8" name="Rectangle 7">
            <a:extLst>
              <a:ext uri="{FF2B5EF4-FFF2-40B4-BE49-F238E27FC236}">
                <a16:creationId xmlns:a16="http://schemas.microsoft.com/office/drawing/2014/main" id="{5E2887F8-8298-4242-A8AF-E81028006933}"/>
              </a:ext>
            </a:extLst>
          </p:cNvPr>
          <p:cNvSpPr>
            <a:spLocks noGrp="1"/>
          </p:cNvSpPr>
          <p:nvPr/>
        </p:nvSpPr>
        <p:spPr>
          <a:xfrm>
            <a:off x="5114925" y="3476625"/>
            <a:ext cx="3429000" cy="666750"/>
          </a:xfrm>
          <a:prstGeom prst="rect">
            <a:avLst/>
          </a:prstGeom>
          <a:noFill/>
          <a:ln w="0">
            <a:noFill/>
            <a:prstDash val="solid"/>
          </a:ln>
        </p:spPr>
        <p:txBody>
          <a:bodyPr anchor="t">
            <a:normAutofit/>
          </a:bodyPr>
          <a:lstStyle/>
          <a:p>
            <a:pPr algn="l">
              <a:defRPr sz="1500" b="0">
                <a:solidFill>
                  <a:srgbClr val="4B5563"/>
                </a:solidFill>
                <a:latin typeface="Arial"/>
                <a:ea typeface="Arial"/>
                <a:cs typeface="Arial"/>
              </a:defRPr>
            </a:pPr>
            <a:r>
              <a:rPr sz="1500" b="0">
                <a:solidFill>
                  <a:srgbClr val="4B5563"/>
                </a:solidFill>
                <a:latin typeface="Arial"/>
                <a:ea typeface="Arial"/>
                <a:cs typeface="Arial"/>
              </a:rPr>
              <a:t>Visual run history and custom telemetry serve different users.</a:t>
            </a:r>
          </a:p>
        </p:txBody>
      </p:sp>
      <p:sp>
        <p:nvSpPr>
          <p:cNvPr id="9" name="Rectangle 8">
            <a:extLst>
              <a:ext uri="{FF2B5EF4-FFF2-40B4-BE49-F238E27FC236}">
                <a16:creationId xmlns:a16="http://schemas.microsoft.com/office/drawing/2014/main" id="{2ECE4088-27E4-4930-AF9B-610554D1574A}"/>
              </a:ext>
            </a:extLst>
          </p:cNvPr>
          <p:cNvSpPr>
            <a:spLocks noGrp="1"/>
          </p:cNvSpPr>
          <p:nvPr/>
        </p:nvSpPr>
        <p:spPr>
          <a:xfrm>
            <a:off x="8334375" y="3048000"/>
            <a:ext cx="523875" cy="523875"/>
          </a:xfrm>
          <a:prstGeom prst="rect">
            <a:avLst/>
          </a:prstGeom>
          <a:noFill/>
          <a:ln w="0">
            <a:noFill/>
            <a:prstDash val="solid"/>
          </a:ln>
        </p:spPr>
        <p:txBody>
          <a:bodyPr anchor="t">
            <a:normAutofit fontScale="99561"/>
          </a:bodyPr>
          <a:lstStyle/>
          <a:p>
            <a:pPr algn="l">
              <a:defRPr sz="2850" b="1">
                <a:solidFill>
                  <a:srgbClr val="C47A00"/>
                </a:solidFill>
                <a:latin typeface="Arial"/>
                <a:ea typeface="Arial"/>
                <a:cs typeface="Arial"/>
              </a:defRPr>
            </a:pPr>
            <a:r>
              <a:rPr sz="2850" b="1">
                <a:solidFill>
                  <a:srgbClr val="C47A00"/>
                </a:solidFill>
                <a:latin typeface="Arial"/>
                <a:ea typeface="Arial"/>
                <a:cs typeface="Arial"/>
              </a:rPr>
              <a:t>3</a:t>
            </a:r>
          </a:p>
        </p:txBody>
      </p:sp>
      <p:sp>
        <p:nvSpPr>
          <p:cNvPr id="10" name="Rectangle 9">
            <a:extLst>
              <a:ext uri="{FF2B5EF4-FFF2-40B4-BE49-F238E27FC236}">
                <a16:creationId xmlns:a16="http://schemas.microsoft.com/office/drawing/2014/main" id="{C526AAEE-DE7A-46A6-B9EA-0A5F57931B0E}"/>
              </a:ext>
            </a:extLst>
          </p:cNvPr>
          <p:cNvSpPr>
            <a:spLocks noGrp="1"/>
          </p:cNvSpPr>
          <p:nvPr/>
        </p:nvSpPr>
        <p:spPr>
          <a:xfrm>
            <a:off x="8972550" y="3076575"/>
            <a:ext cx="2571750" cy="333375"/>
          </a:xfrm>
          <a:prstGeom prst="rect">
            <a:avLst/>
          </a:prstGeom>
          <a:noFill/>
          <a:ln w="0">
            <a:noFill/>
            <a:prstDash val="solid"/>
          </a:ln>
        </p:spPr>
        <p:txBody>
          <a:bodyPr anchor="t">
            <a:normAutofit fontScale="84667" lnSpcReduction="10000"/>
          </a:bodyPr>
          <a:lstStyle/>
          <a:p>
            <a:pPr algn="l">
              <a:defRPr sz="1875" b="1">
                <a:solidFill>
                  <a:srgbClr val="0B1220"/>
                </a:solidFill>
                <a:latin typeface="Arial"/>
                <a:ea typeface="Arial"/>
                <a:cs typeface="Arial"/>
              </a:defRPr>
            </a:pPr>
            <a:r>
              <a:rPr sz="1875" b="1">
                <a:solidFill>
                  <a:srgbClr val="0B1220"/>
                </a:solidFill>
                <a:latin typeface="Arial"/>
                <a:ea typeface="Arial"/>
                <a:cs typeface="Arial"/>
              </a:rPr>
              <a:t>Next iteration</a:t>
            </a:r>
          </a:p>
        </p:txBody>
      </p:sp>
      <p:sp>
        <p:nvSpPr>
          <p:cNvPr id="11" name="Rectangle 10">
            <a:extLst>
              <a:ext uri="{FF2B5EF4-FFF2-40B4-BE49-F238E27FC236}">
                <a16:creationId xmlns:a16="http://schemas.microsoft.com/office/drawing/2014/main" id="{03F5E2FB-E8A0-46DE-8B05-2448402DB0D3}"/>
              </a:ext>
            </a:extLst>
          </p:cNvPr>
          <p:cNvSpPr>
            <a:spLocks noGrp="1"/>
          </p:cNvSpPr>
          <p:nvPr/>
        </p:nvSpPr>
        <p:spPr>
          <a:xfrm>
            <a:off x="8972550" y="3476625"/>
            <a:ext cx="2667000" cy="809625"/>
          </a:xfrm>
          <a:prstGeom prst="rect">
            <a:avLst/>
          </a:prstGeom>
          <a:noFill/>
          <a:ln w="0">
            <a:noFill/>
            <a:prstDash val="solid"/>
          </a:ln>
        </p:spPr>
        <p:txBody>
          <a:bodyPr anchor="t">
            <a:normAutofit/>
          </a:bodyPr>
          <a:lstStyle/>
          <a:p>
            <a:pPr algn="l">
              <a:defRPr sz="1500" b="0">
                <a:solidFill>
                  <a:srgbClr val="4B5563"/>
                </a:solidFill>
                <a:latin typeface="Arial"/>
                <a:ea typeface="Arial"/>
                <a:cs typeface="Arial"/>
              </a:defRPr>
            </a:pPr>
            <a:r>
              <a:rPr sz="1500" b="0">
                <a:solidFill>
                  <a:srgbClr val="4B5563"/>
                </a:solidFill>
                <a:latin typeface="Arial"/>
                <a:ea typeface="Arial"/>
                <a:cs typeface="Arial"/>
              </a:rPr>
              <a:t>Add automated integration tests, identity, secrets, and alerts.</a:t>
            </a:r>
          </a:p>
        </p:txBody>
      </p:sp>
      <p:sp>
        <p:nvSpPr>
          <p:cNvPr id="12" name="Rectangle 11">
            <a:extLst>
              <a:ext uri="{FF2B5EF4-FFF2-40B4-BE49-F238E27FC236}">
                <a16:creationId xmlns:a16="http://schemas.microsoft.com/office/drawing/2014/main" id="{C52E05C8-8274-4A59-BAC1-A76C9323621A}"/>
              </a:ext>
            </a:extLst>
          </p:cNvPr>
          <p:cNvSpPr>
            <a:spLocks noGrp="1"/>
          </p:cNvSpPr>
          <p:nvPr/>
        </p:nvSpPr>
        <p:spPr>
          <a:xfrm>
            <a:off x="552450" y="5143500"/>
            <a:ext cx="1809750" cy="285750"/>
          </a:xfrm>
          <a:prstGeom prst="rect">
            <a:avLst/>
          </a:prstGeom>
          <a:noFill/>
          <a:ln w="0">
            <a:noFill/>
            <a:prstDash val="solid"/>
          </a:ln>
        </p:spPr>
        <p:txBody>
          <a:bodyPr anchor="t">
            <a:normAutofit fontScale="85000" lnSpcReduction="10000"/>
          </a:bodyPr>
          <a:lstStyle/>
          <a:p>
            <a:pPr algn="l">
              <a:defRPr sz="1500" b="1">
                <a:solidFill>
                  <a:srgbClr val="2F80ED"/>
                </a:solidFill>
                <a:latin typeface="Arial"/>
                <a:ea typeface="Arial"/>
                <a:cs typeface="Arial"/>
              </a:defRPr>
            </a:pPr>
            <a:r>
              <a:rPr sz="1500" b="1">
                <a:solidFill>
                  <a:srgbClr val="2F80ED"/>
                </a:solidFill>
                <a:latin typeface="Arial"/>
                <a:ea typeface="Arial"/>
                <a:cs typeface="Arial"/>
              </a:rPr>
              <a:t>Final verdict</a:t>
            </a:r>
          </a:p>
        </p:txBody>
      </p:sp>
      <p:sp>
        <p:nvSpPr>
          <p:cNvPr id="13" name="Rectangle 12">
            <a:extLst>
              <a:ext uri="{FF2B5EF4-FFF2-40B4-BE49-F238E27FC236}">
                <a16:creationId xmlns:a16="http://schemas.microsoft.com/office/drawing/2014/main" id="{82AF6835-182A-4951-84F3-AC1DD9826E2A}"/>
              </a:ext>
            </a:extLst>
          </p:cNvPr>
          <p:cNvSpPr>
            <a:spLocks noGrp="1"/>
          </p:cNvSpPr>
          <p:nvPr/>
        </p:nvSpPr>
        <p:spPr>
          <a:xfrm>
            <a:off x="552450" y="5572125"/>
            <a:ext cx="9906000" cy="571500"/>
          </a:xfrm>
          <a:prstGeom prst="rect">
            <a:avLst/>
          </a:prstGeom>
          <a:noFill/>
          <a:ln w="0">
            <a:noFill/>
            <a:prstDash val="solid"/>
          </a:ln>
        </p:spPr>
        <p:txBody>
          <a:bodyPr anchor="t">
            <a:normAutofit/>
          </a:bodyPr>
          <a:lstStyle/>
          <a:p>
            <a:pPr algn="l">
              <a:defRPr sz="2250" b="1">
                <a:solidFill>
                  <a:srgbClr val="0B1220"/>
                </a:solidFill>
                <a:latin typeface="Arial"/>
                <a:ea typeface="Arial"/>
                <a:cs typeface="Arial"/>
              </a:defRPr>
            </a:pPr>
            <a:r>
              <a:rPr sz="2250" b="1">
                <a:solidFill>
                  <a:srgbClr val="0B1220"/>
                </a:solidFill>
                <a:latin typeface="Arial"/>
                <a:ea typeface="Arial"/>
                <a:cs typeface="Arial"/>
              </a:rPr>
              <a:t>Durable Functions for complex logic. Logic Apps for fast integration.</a:t>
            </a:r>
          </a:p>
        </p:txBody>
      </p:sp>
    </p:spTree>
    <p:extLst>
      <p:ext uri="{BB962C8B-B14F-4D97-AF65-F5344CB8AC3E}">
        <p14:creationId xmlns:p14="http://schemas.microsoft.com/office/powerpoint/2010/main" val="136104280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2353</Words>
  <Application>Microsoft Office PowerPoint</Application>
  <DocSecurity>0</DocSecurity>
  <PresentationFormat>Widescreen</PresentationFormat>
  <Paragraphs>226</Paragraphs>
  <Slides>14</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杉 姜</cp:lastModifiedBy>
  <cp:revision>1</cp:revision>
  <dcterms:created xsi:type="dcterms:W3CDTF">2026-08-13T21:54:33Z</dcterms:created>
  <dcterms:modified xsi:type="dcterms:W3CDTF">2026-08-16T02:12:54Z</dcterms:modified>
</cp:coreProperties>
</file>